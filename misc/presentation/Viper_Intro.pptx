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iper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737360" cy="1737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9260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FB950"/>
                </a:solidFill>
                <a:latin typeface="Avenir Next"/>
              </a:rPr>
              <a:t>An informal introduction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600" b="1">
                <a:solidFill>
                  <a:srgbClr val="E6EDF3"/>
                </a:solidFill>
                <a:latin typeface="Avenir Next"/>
              </a:rPr>
              <a:t>Viper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8B949E"/>
                </a:solidFill>
                <a:latin typeface="Avenir Next"/>
              </a:rPr>
              <a:t>An IL-first compiler toolchain &amp; virtual machine for building native apps and games.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2648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EDF3"/>
                </a:solidFill>
                <a:latin typeface="Avenir Next"/>
              </a:rPr>
              <a:t>Active development</a:t>
            </a:r>
            <a:r>
              <a:rPr sz="1400" b="0">
                <a:solidFill>
                  <a:srgbClr val="30363D"/>
                </a:solidFill>
                <a:latin typeface="Avenir Next"/>
              </a:rPr>
              <a:t>    ·    </a:t>
            </a:r>
            <a:r>
              <a:rPr sz="1400" b="0">
                <a:solidFill>
                  <a:srgbClr val="8B949E"/>
                </a:solidFill>
                <a:latin typeface="Avenir Next"/>
              </a:rPr>
              <a:t>GPL-3.0</a:t>
            </a:r>
            <a:r>
              <a:rPr sz="1400" b="0">
                <a:solidFill>
                  <a:srgbClr val="30363D"/>
                </a:solidFill>
                <a:latin typeface="Avenir Next"/>
              </a:rPr>
              <a:t>    ·    </a:t>
            </a:r>
            <a:r>
              <a:rPr sz="1400" b="0">
                <a:solidFill>
                  <a:srgbClr val="8B949E"/>
                </a:solidFill>
                <a:latin typeface="Avenir Next"/>
              </a:rPr>
              <a:t>macOS · Linux · Windows</a:t>
            </a:r>
            <a:r>
              <a:rPr sz="1400" b="0">
                <a:solidFill>
                  <a:srgbClr val="30363D"/>
                </a:solidFill>
                <a:latin typeface="Avenir Next"/>
              </a:rPr>
              <a:t>    ·    </a:t>
            </a:r>
            <a:r>
              <a:rPr sz="1400" b="0">
                <a:solidFill>
                  <a:srgbClr val="58A6FF"/>
                </a:solidFill>
                <a:latin typeface="Avenir Next"/>
              </a:rPr>
              <a:t>github.com/splanck/viper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Avenir Next"/>
              </a:rPr>
              <a:t>THE CORE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786384"/>
            <a:ext cx="502920" cy="5029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6EDF3"/>
                </a:solidFill>
                <a:latin typeface="Avenir Next"/>
              </a:rPr>
              <a:t>One IL. Many languages. Native everywhere.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126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2000" b="0">
                <a:solidFill>
                  <a:srgbClr val="E6EDF3"/>
                </a:solidFill>
                <a:latin typeface="Avenir Next"/>
              </a:rPr>
              <a:t>Programs in </a:t>
            </a:r>
            <a:r>
              <a:rPr sz="2000" b="1">
                <a:solidFill>
                  <a:srgbClr val="3FB950"/>
                </a:solidFill>
                <a:latin typeface="Avenir Next"/>
              </a:rPr>
              <a:t>Zia</a:t>
            </a:r>
            <a:r>
              <a:rPr sz="2000" b="0">
                <a:solidFill>
                  <a:srgbClr val="E6EDF3"/>
                </a:solidFill>
                <a:latin typeface="Avenir Next"/>
              </a:rPr>
              <a:t> or </a:t>
            </a:r>
            <a:r>
              <a:rPr sz="2000" b="1">
                <a:solidFill>
                  <a:srgbClr val="3FB950"/>
                </a:solidFill>
                <a:latin typeface="Avenir Next"/>
              </a:rPr>
              <a:t>BASIC</a:t>
            </a:r>
            <a:r>
              <a:rPr sz="2000" b="0">
                <a:solidFill>
                  <a:srgbClr val="E6EDF3"/>
                </a:solidFill>
                <a:latin typeface="Avenir Next"/>
              </a:rPr>
              <a:t> compile to </a:t>
            </a:r>
            <a:r>
              <a:rPr sz="2000" b="1">
                <a:solidFill>
                  <a:srgbClr val="58A6FF"/>
                </a:solidFill>
                <a:latin typeface="Avenir Next"/>
              </a:rPr>
              <a:t>Viper IL</a:t>
            </a:r>
            <a:r>
              <a:rPr sz="2000" b="0">
                <a:solidFill>
                  <a:srgbClr val="E6EDF3"/>
                </a:solidFill>
                <a:latin typeface="Avenir Next"/>
              </a:rPr>
              <a:t> — a typed, SSA-based intermediate language.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2000" b="0">
                <a:solidFill>
                  <a:srgbClr val="E6EDF3"/>
                </a:solidFill>
                <a:latin typeface="Avenir Next"/>
              </a:rPr>
              <a:t>The IL is the </a:t>
            </a:r>
            <a:r>
              <a:rPr sz="2000" b="1">
                <a:solidFill>
                  <a:srgbClr val="E6EDF3"/>
                </a:solidFill>
                <a:latin typeface="Avenir Next"/>
              </a:rPr>
              <a:t>“thin waist”</a:t>
            </a:r>
            <a:r>
              <a:rPr sz="2000" b="0">
                <a:solidFill>
                  <a:srgbClr val="E6EDF3"/>
                </a:solidFill>
                <a:latin typeface="Avenir Next"/>
              </a:rPr>
              <a:t>: frontends and backends plug into it independently.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2000" b="0">
                <a:solidFill>
                  <a:srgbClr val="E6EDF3"/>
                </a:solidFill>
                <a:latin typeface="Avenir Next"/>
              </a:rPr>
              <a:t>Run it on the </a:t>
            </a:r>
            <a:r>
              <a:rPr sz="2000" b="1">
                <a:solidFill>
                  <a:srgbClr val="58A6FF"/>
                </a:solidFill>
                <a:latin typeface="Avenir Next"/>
              </a:rPr>
              <a:t>VM</a:t>
            </a:r>
            <a:r>
              <a:rPr sz="2000" b="0">
                <a:solidFill>
                  <a:srgbClr val="E6EDF3"/>
                </a:solidFill>
                <a:latin typeface="Avenir Next"/>
              </a:rPr>
              <a:t> for fast iteration, or compile straight to </a:t>
            </a:r>
            <a:r>
              <a:rPr sz="2000" b="1">
                <a:solidFill>
                  <a:srgbClr val="58A6FF"/>
                </a:solidFill>
                <a:latin typeface="Avenir Next"/>
              </a:rPr>
              <a:t>native machine code</a:t>
            </a:r>
            <a:r>
              <a:rPr sz="2000" b="0">
                <a:solidFill>
                  <a:srgbClr val="E6EDF3"/>
                </a:solidFill>
                <a:latin typeface="Avenir Next"/>
              </a:rPr>
              <a:t>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2000" b="0">
                <a:solidFill>
                  <a:srgbClr val="E6EDF3"/>
                </a:solidFill>
                <a:latin typeface="Avenir Next"/>
              </a:rPr>
              <a:t>Built </a:t>
            </a:r>
            <a:r>
              <a:rPr sz="2000" b="1">
                <a:solidFill>
                  <a:srgbClr val="E6EDF3"/>
                </a:solidFill>
                <a:latin typeface="Avenir Next"/>
              </a:rPr>
              <a:t>100% from scratch</a:t>
            </a:r>
            <a:r>
              <a:rPr sz="2000" b="0">
                <a:solidFill>
                  <a:srgbClr val="E6EDF3"/>
                </a:solidFill>
                <a:latin typeface="Avenir Next"/>
              </a:rPr>
              <a:t> — zero external dependencies, fully cross-platform.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965960"/>
            <a:ext cx="4343400" cy="749808"/>
          </a:xfrm>
          <a:prstGeom prst="roundRect">
            <a:avLst>
              <a:gd name="adj" fmla="val 15853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58A6FF"/>
                </a:solidFill>
                <a:latin typeface="Avenir Next"/>
              </a:rPr>
              <a:t>Zia  ·  BASIC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49E"/>
                </a:solidFill>
                <a:latin typeface="Avenir Next"/>
              </a:rPr>
              <a:t>source languages</a:t>
            </a:r>
          </a:p>
        </p:txBody>
      </p:sp>
      <p:sp>
        <p:nvSpPr>
          <p:cNvPr id="8" name="Down Arrow 7"/>
          <p:cNvSpPr/>
          <p:nvPr/>
        </p:nvSpPr>
        <p:spPr>
          <a:xfrm>
            <a:off x="9221724" y="2779776"/>
            <a:ext cx="256032" cy="237744"/>
          </a:xfrm>
          <a:prstGeom prst="down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78040" y="3035808"/>
            <a:ext cx="4343400" cy="786384"/>
          </a:xfrm>
          <a:prstGeom prst="roundRect">
            <a:avLst>
              <a:gd name="adj" fmla="val 15116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3FB950"/>
                </a:solidFill>
                <a:latin typeface="Avenir Next"/>
              </a:rPr>
              <a:t>Viper IL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49E"/>
                </a:solidFill>
                <a:latin typeface="Avenir Next"/>
              </a:rPr>
              <a:t>typed SSA  ·  verify  ·  optimize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221724" y="3931920"/>
            <a:ext cx="256032" cy="237744"/>
          </a:xfrm>
          <a:prstGeom prst="down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78040" y="4224528"/>
            <a:ext cx="2103120" cy="786384"/>
          </a:xfrm>
          <a:prstGeom prst="roundRect">
            <a:avLst>
              <a:gd name="adj" fmla="val 15116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E6EDF3"/>
                </a:solidFill>
                <a:latin typeface="Avenir Next"/>
              </a:rPr>
              <a:t>VM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49E"/>
                </a:solidFill>
                <a:latin typeface="Avenir Next"/>
              </a:rPr>
              <a:t>run &amp; debug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4224528"/>
            <a:ext cx="2103120" cy="786384"/>
          </a:xfrm>
          <a:prstGeom prst="roundRect">
            <a:avLst>
              <a:gd name="adj" fmla="val 15116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E6EDF3"/>
                </a:solidFill>
                <a:latin typeface="Avenir Next"/>
              </a:rPr>
              <a:t>Native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49E"/>
                </a:solidFill>
                <a:latin typeface="Avenir Next"/>
              </a:rPr>
              <a:t>x86-64 · ARM64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221724" y="5120640"/>
            <a:ext cx="256032" cy="237744"/>
          </a:xfrm>
          <a:prstGeom prst="down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78040" y="5321808"/>
            <a:ext cx="4343400" cy="749808"/>
          </a:xfrm>
          <a:prstGeom prst="roundRect">
            <a:avLst>
              <a:gd name="adj" fmla="val 15853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t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58A6FF"/>
                </a:solidFill>
                <a:latin typeface="Avenir Next"/>
              </a:rPr>
              <a:t>Viper Runtime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49E"/>
                </a:solidFill>
                <a:latin typeface="Avenir Next"/>
              </a:rPr>
              <a:t>one library, shared by 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Avenir Next"/>
              </a:rPr>
              <a:t>FRONTENDS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786384"/>
            <a:ext cx="502920" cy="5029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6EDF3"/>
                </a:solidFill>
                <a:latin typeface="Avenir Next"/>
              </a:rPr>
              <a:t>Two languages, one target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349240" cy="3383280"/>
          </a:xfrm>
          <a:prstGeom prst="roundRect">
            <a:avLst>
              <a:gd name="adj" fmla="val 3513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56032" tIns="246888" bIns="18288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E6EDF3"/>
                </a:solidFill>
                <a:latin typeface="Avenir Next"/>
              </a:rPr>
              <a:t>Zia</a:t>
            </a:r>
            <a:r>
              <a:rPr sz="1400" b="0">
                <a:solidFill>
                  <a:srgbClr val="3FB950"/>
                </a:solidFill>
                <a:latin typeface="Avenir Next"/>
              </a:rPr>
              <a:t>   the flagship language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550" b="0">
                <a:solidFill>
                  <a:srgbClr val="8B949E"/>
                </a:solidFill>
                <a:latin typeface="Avenir Next"/>
              </a:rPr>
              <a:t>Modern, statically typed — designed for real apps and games.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3FB950"/>
                </a:solidFill>
                <a:latin typeface="Avenir Next"/>
              </a:rPr>
              <a:t>✓  </a:t>
            </a:r>
            <a:r>
              <a:rPr sz="1600" b="0">
                <a:solidFill>
                  <a:srgbClr val="E6EDF3"/>
                </a:solidFill>
                <a:latin typeface="Avenir Next"/>
              </a:rPr>
              <a:t>Classes, generics &amp; enums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3FB950"/>
                </a:solidFill>
                <a:latin typeface="Avenir Next"/>
              </a:rPr>
              <a:t>✓  </a:t>
            </a:r>
            <a:r>
              <a:rPr sz="1600" b="0">
                <a:solidFill>
                  <a:srgbClr val="E6EDF3"/>
                </a:solidFill>
                <a:latin typeface="Avenir Next"/>
              </a:rPr>
              <a:t>Lambdas &amp; modules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3FB950"/>
                </a:solidFill>
                <a:latin typeface="Avenir Next"/>
              </a:rPr>
              <a:t>✓  </a:t>
            </a:r>
            <a:r>
              <a:rPr sz="1600" b="0">
                <a:solidFill>
                  <a:srgbClr val="E6EDF3"/>
                </a:solidFill>
                <a:latin typeface="Avenir Next"/>
              </a:rPr>
              <a:t>Pattern matching &amp; exhaustiveness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3FB950"/>
                </a:solidFill>
                <a:latin typeface="Avenir Next"/>
              </a:rPr>
              <a:t>✓  </a:t>
            </a:r>
            <a:r>
              <a:rPr sz="1600" b="0">
                <a:solidFill>
                  <a:srgbClr val="E6EDF3"/>
                </a:solidFill>
                <a:latin typeface="Avenir Next"/>
              </a:rPr>
              <a:t>Memory-safe surface — no raw pointers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2103120"/>
            <a:ext cx="5349240" cy="3383280"/>
          </a:xfrm>
          <a:prstGeom prst="roundRect">
            <a:avLst>
              <a:gd name="adj" fmla="val 3513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56032" tIns="246888" bIns="18288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600" b="1">
                <a:solidFill>
                  <a:srgbClr val="E6EDF3"/>
                </a:solidFill>
                <a:latin typeface="Avenir Next"/>
              </a:rPr>
              <a:t>BASIC</a:t>
            </a:r>
            <a:r>
              <a:rPr sz="1400" b="0">
                <a:solidFill>
                  <a:srgbClr val="58A6FF"/>
                </a:solidFill>
                <a:latin typeface="Avenir Next"/>
              </a:rPr>
              <a:t>   the teaching frontend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550" b="0">
                <a:solidFill>
                  <a:srgbClr val="8B949E"/>
                </a:solidFill>
                <a:latin typeface="Avenir Next"/>
              </a:rPr>
              <a:t>A classic, approachable dialect for rapid prototyping.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3FB950"/>
                </a:solidFill>
                <a:latin typeface="Avenir Next"/>
              </a:rPr>
              <a:t>✓  </a:t>
            </a:r>
            <a:r>
              <a:rPr sz="1600" b="0">
                <a:solidFill>
                  <a:srgbClr val="E6EDF3"/>
                </a:solidFill>
                <a:latin typeface="Avenir Next"/>
              </a:rPr>
              <a:t>Familiar LET / PRINT / IF / WHILE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3FB950"/>
                </a:solidFill>
                <a:latin typeface="Avenir Next"/>
              </a:rPr>
              <a:t>✓  </a:t>
            </a:r>
            <a:r>
              <a:rPr sz="1600" b="0">
                <a:solidFill>
                  <a:srgbClr val="E6EDF3"/>
                </a:solidFill>
                <a:latin typeface="Avenir Next"/>
              </a:rPr>
              <a:t>Hand-written lexer + recursive-descent parser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3FB950"/>
                </a:solidFill>
                <a:latin typeface="Avenir Next"/>
              </a:rPr>
              <a:t>✓  </a:t>
            </a:r>
            <a:r>
              <a:rPr sz="1600" b="0">
                <a:solidFill>
                  <a:srgbClr val="E6EDF3"/>
                </a:solidFill>
                <a:latin typeface="Avenir Next"/>
              </a:rPr>
              <a:t>Intrinsics lower to runtime calls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3FB950"/>
                </a:solidFill>
                <a:latin typeface="Avenir Next"/>
              </a:rPr>
              <a:t>✓  </a:t>
            </a:r>
            <a:r>
              <a:rPr sz="1600" b="0">
                <a:solidFill>
                  <a:srgbClr val="E6EDF3"/>
                </a:solidFill>
                <a:latin typeface="Avenir Next"/>
              </a:rPr>
              <a:t>Great for learning the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6EDF3"/>
                </a:solidFill>
                <a:latin typeface="Avenir Next"/>
              </a:rPr>
              <a:t>Both lower to the same Viper IL</a:t>
            </a:r>
            <a:r>
              <a:rPr sz="1500" b="0">
                <a:solidFill>
                  <a:srgbClr val="8B949E"/>
                </a:solidFill>
                <a:latin typeface="Avenir Next"/>
              </a:rPr>
              <a:t> — so they share the same optimizer, backends, and runtime library.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Avenir Next"/>
              </a:rPr>
              <a:t>VIPER 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786384"/>
            <a:ext cx="502920" cy="5029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6EDF3"/>
                </a:solidFill>
                <a:latin typeface="Avenir Next"/>
              </a:rPr>
              <a:t>Typed, SSA-based, and inspectable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75104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B949E"/>
                </a:solidFill>
                <a:latin typeface="Avenir Next"/>
              </a:rPr>
              <a:t>Zia 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074920" cy="3108960"/>
          </a:xfrm>
          <a:prstGeom prst="roundRect">
            <a:avLst>
              <a:gd name="adj" fmla="val 2941"/>
            </a:avLst>
          </a:prstGeom>
          <a:solidFill>
            <a:srgbClr val="0A0E14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rIns="109728" tIns="128016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module Hello;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bind Viper.Terminal;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bind Fmt = Viper.Text.Fmt;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func start()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  var x = 2 + 3;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  var y = x * 2;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  Say("HELLO");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  Say(Fmt.Int(y));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70448" y="3648456"/>
            <a:ext cx="457200" cy="384048"/>
          </a:xfrm>
          <a:prstGeom prst="rightArrow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7" y="1975104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B949E"/>
                </a:solidFill>
                <a:latin typeface="Avenir Next"/>
              </a:rPr>
              <a:t>Viper 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286000"/>
            <a:ext cx="5074920" cy="3108960"/>
          </a:xfrm>
          <a:prstGeom prst="roundRect">
            <a:avLst>
              <a:gd name="adj" fmla="val 2941"/>
            </a:avLst>
          </a:prstGeom>
          <a:solidFill>
            <a:srgbClr val="0A0E14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rIns="109728" tIns="128016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il 0.2.0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func @main() -&gt; void {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entry_0: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%t0 = iadd.ovf 2,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%t1 = alloca 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store i64, %t1, %t0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%t2 = load i64, %t1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%t3 = imul.ovf %t2,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call @Viper.Terminal.Say(%t5)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  ret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8A6FF"/>
                </a:solidFill>
                <a:latin typeface="Avenir Next"/>
              </a:rPr>
              <a:t>A verifier</a:t>
            </a:r>
            <a:r>
              <a:rPr sz="1500" b="0">
                <a:solidFill>
                  <a:srgbClr val="8B949E"/>
                </a:solidFill>
                <a:latin typeface="Avenir Next"/>
              </a:rPr>
              <a:t> enforces structural &amp; type invariants, then a </a:t>
            </a:r>
            <a:r>
              <a:rPr sz="1500" b="1">
                <a:solidFill>
                  <a:srgbClr val="58A6FF"/>
                </a:solidFill>
                <a:latin typeface="Avenir Next"/>
              </a:rPr>
              <a:t>24-pass optimizer</a:t>
            </a:r>
            <a:r>
              <a:rPr sz="1500" b="0">
                <a:solidFill>
                  <a:srgbClr val="8B949E"/>
                </a:solidFill>
                <a:latin typeface="Avenir Next"/>
              </a:rPr>
              <a:t> runs GVN, LICM, SCCP, inlining, loop opts, and more.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Avenir Next"/>
              </a:rPr>
              <a:t>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786384"/>
            <a:ext cx="502920" cy="5029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6EDF3"/>
                </a:solidFill>
                <a:latin typeface="Avenir Next"/>
              </a:rPr>
              <a:t>Two ways to run the same 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349240" cy="3520440"/>
          </a:xfrm>
          <a:prstGeom prst="roundRect">
            <a:avLst>
              <a:gd name="adj" fmla="val 3376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56032" tIns="246888" bIns="18288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8A6FF"/>
                </a:solidFill>
                <a:latin typeface="Avenir Next"/>
              </a:rPr>
              <a:t>The VM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>
                <a:solidFill>
                  <a:srgbClr val="8B949E"/>
                </a:solidFill>
                <a:latin typeface="Avenir Next"/>
              </a:rPr>
              <a:t>Primary development &amp; debugging target.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1550" b="0">
                <a:solidFill>
                  <a:srgbClr val="E6EDF3"/>
                </a:solidFill>
                <a:latin typeface="Avenir Next"/>
              </a:rPr>
              <a:t>Register-file bytecode interpreter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1550" b="0">
                <a:solidFill>
                  <a:srgbClr val="E6EDF3"/>
                </a:solidFill>
                <a:latin typeface="Avenir Next"/>
              </a:rPr>
              <a:t>Switch · table · threaded-goto dispatch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1550" b="0">
                <a:solidFill>
                  <a:srgbClr val="E6EDF3"/>
                </a:solidFill>
                <a:latin typeface="Avenir Next"/>
              </a:rPr>
              <a:t>Pooled frames &amp; cached string literals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1550" b="0">
                <a:solidFill>
                  <a:srgbClr val="E6EDF3"/>
                </a:solidFill>
                <a:latin typeface="Avenir Next"/>
              </a:rPr>
              <a:t>Traps surface structured diagnostics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1550" b="0">
                <a:solidFill>
                  <a:srgbClr val="E6EDF3"/>
                </a:solidFill>
                <a:latin typeface="Avenir Next"/>
              </a:rPr>
              <a:t>Execution tracing for debugging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2103120"/>
            <a:ext cx="5349240" cy="3520440"/>
          </a:xfrm>
          <a:prstGeom prst="roundRect">
            <a:avLst>
              <a:gd name="adj" fmla="val 3376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56032" tIns="246888" bIns="18288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3FB950"/>
                </a:solidFill>
                <a:latin typeface="Avenir Next"/>
              </a:rPr>
              <a:t>Native backends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>
                <a:solidFill>
                  <a:srgbClr val="8B949E"/>
                </a:solidFill>
                <a:latin typeface="Avenir Next"/>
              </a:rPr>
              <a:t>Compile IL straight to machine code.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1550" b="0">
                <a:solidFill>
                  <a:srgbClr val="E6EDF3"/>
                </a:solidFill>
                <a:latin typeface="Avenir Next"/>
              </a:rPr>
              <a:t>AArch64 — Apple Silicon, ARM64 Win/Linux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1550" b="0">
                <a:solidFill>
                  <a:srgbClr val="E6EDF3"/>
                </a:solidFill>
                <a:latin typeface="Avenir Next"/>
              </a:rPr>
              <a:t>x86-64 — Windows &amp; Linux (SysV / Win64)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1550" b="0">
                <a:solidFill>
                  <a:srgbClr val="E6EDF3"/>
                </a:solidFill>
                <a:latin typeface="Avenir Next"/>
              </a:rPr>
              <a:t>Register coalescing, post-RA scheduling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1550" b="0">
                <a:solidFill>
                  <a:srgbClr val="E6EDF3"/>
                </a:solidFill>
                <a:latin typeface="Avenir Next"/>
              </a:rPr>
              <a:t>Built-in assembler + linker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3FB950"/>
                </a:solidFill>
                <a:latin typeface="Avenir Next"/>
              </a:rPr>
              <a:t>▸  </a:t>
            </a:r>
            <a:r>
              <a:rPr sz="1550" b="0">
                <a:solidFill>
                  <a:srgbClr val="E6EDF3"/>
                </a:solidFill>
                <a:latin typeface="Avenir Next"/>
              </a:rPr>
              <a:t>ELF · Mach-O · PE  with DWARF — zero deps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6EDF3"/>
                </a:solidFill>
                <a:latin typeface="Avenir Next"/>
              </a:rPr>
              <a:t>Differential testing</a:t>
            </a:r>
            <a:r>
              <a:rPr sz="1500" b="0">
                <a:solidFill>
                  <a:srgbClr val="8B949E"/>
                </a:solidFill>
                <a:latin typeface="Avenir Next"/>
              </a:rPr>
              <a:t> keeps them honest: VM and native outputs must match for every defined program.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Avenir Next"/>
              </a:rPr>
              <a:t>THE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786384"/>
            <a:ext cx="502920" cy="5029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6EDF3"/>
                </a:solidFill>
                <a:latin typeface="Avenir Next"/>
              </a:rPr>
              <a:t>One standard library, every frontend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B949E"/>
                </a:solidFill>
                <a:latin typeface="Avenir Next"/>
              </a:rPr>
              <a:t>436 classes across 22 modules — shared through a stable C ABI by both the VM and native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5486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57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Graphics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7570" y="2331720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5486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53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GUI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2331720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5486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46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Graphics3D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2550" y="2331720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5486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34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Game3D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82696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5486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29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Collections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7570" y="3282696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5486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27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Network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5060" y="3282696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5486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26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Game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2550" y="3282696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5486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23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Utilities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33672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5486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22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7570" y="4233672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5486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18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Threads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5060" y="4233672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5486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16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I/O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2550" y="4233672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5486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12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Math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84648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5486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10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Localization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17570" y="5184648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5486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8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Crypto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5060" y="5184648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5486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8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Sound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550" y="5184648"/>
            <a:ext cx="2576322" cy="768096"/>
          </a:xfrm>
          <a:prstGeom prst="roundRect">
            <a:avLst>
              <a:gd name="adj" fmla="val 13095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54864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3FB950"/>
                </a:solidFill>
                <a:latin typeface="Avenir Next"/>
              </a:rPr>
              <a:t>8</a:t>
            </a:r>
            <a:r>
              <a:rPr sz="1050" b="0">
                <a:solidFill>
                  <a:srgbClr val="8B949E"/>
                </a:solidFill>
                <a:latin typeface="Avenir Next"/>
              </a:rPr>
              <a:t>  classes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DF3"/>
                </a:solidFill>
                <a:latin typeface="Avenir Next"/>
              </a:rPr>
              <a:t>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63056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49E"/>
                </a:solidFill>
                <a:latin typeface="Avenir Next"/>
              </a:rPr>
              <a:t>Plus</a:t>
            </a:r>
            <a:r>
              <a:rPr sz="1400" b="0">
                <a:solidFill>
                  <a:srgbClr val="E6EDF3"/>
                </a:solidFill>
                <a:latin typeface="Avenir Next"/>
              </a:rPr>
              <a:t> Core, Data, Input, Memory, Game.Physics2D, Game.UI</a:t>
            </a:r>
            <a:r>
              <a:rPr sz="1400" b="0">
                <a:solidFill>
                  <a:srgbClr val="8B949E"/>
                </a:solidFill>
                <a:latin typeface="Avenir Next"/>
              </a:rPr>
              <a:t>  —  graphics, 3D &amp; game engine, audio, networking, crypto, threading, localization, and more.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Avenir Next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786384"/>
            <a:ext cx="502920" cy="5029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6EDF3"/>
                </a:solidFill>
                <a:latin typeface="Avenir Next"/>
              </a:rPr>
              <a:t>The end-to-end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5984" y="1371600"/>
            <a:ext cx="5120640" cy="749808"/>
          </a:xfrm>
          <a:prstGeom prst="roundRect">
            <a:avLst>
              <a:gd name="adj" fmla="val 13414"/>
            </a:avLst>
          </a:prstGeom>
          <a:solidFill>
            <a:srgbClr val="161B22"/>
          </a:solidFill>
          <a:ln w="2032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6EDF3"/>
                </a:solidFill>
                <a:latin typeface="Avenir Next"/>
              </a:rPr>
              <a:t>Source languages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49E"/>
                </a:solidFill>
                <a:latin typeface="Avenir Next"/>
              </a:rPr>
              <a:t>Zia · BASIC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68288" y="2194560"/>
            <a:ext cx="256032" cy="237744"/>
          </a:xfrm>
          <a:prstGeom prst="down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35984" y="2414016"/>
            <a:ext cx="5120640" cy="749808"/>
          </a:xfrm>
          <a:prstGeom prst="roundRect">
            <a:avLst>
              <a:gd name="adj" fmla="val 13414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6EDF3"/>
                </a:solidFill>
                <a:latin typeface="Avenir Next"/>
              </a:rPr>
              <a:t>Frontend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49E"/>
                </a:solidFill>
                <a:latin typeface="Avenir Next"/>
              </a:rPr>
              <a:t>lex · parse · sema · lower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68288" y="3236976"/>
            <a:ext cx="256032" cy="237744"/>
          </a:xfrm>
          <a:prstGeom prst="down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78784" y="3456432"/>
            <a:ext cx="6035040" cy="804672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2032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FB950"/>
                </a:solidFill>
                <a:latin typeface="Avenir Next"/>
              </a:rPr>
              <a:t>Viper IL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49E"/>
                </a:solidFill>
                <a:latin typeface="Avenir Next"/>
              </a:rPr>
              <a:t>typed SSA · verifier · 24-pass optimizer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502152" y="4334256"/>
            <a:ext cx="256032" cy="237744"/>
          </a:xfrm>
          <a:prstGeom prst="down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8430767" y="4334256"/>
            <a:ext cx="256032" cy="237744"/>
          </a:xfrm>
          <a:prstGeom prst="down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54480" y="4553712"/>
            <a:ext cx="4160520" cy="859536"/>
          </a:xfrm>
          <a:prstGeom prst="roundRect">
            <a:avLst>
              <a:gd name="adj" fmla="val 11702"/>
            </a:avLst>
          </a:prstGeom>
          <a:solidFill>
            <a:srgbClr val="161B22"/>
          </a:solidFill>
          <a:ln w="2032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6EDF3"/>
                </a:solidFill>
                <a:latin typeface="Avenir Next"/>
              </a:rPr>
              <a:t>Bytecode VM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49E"/>
                </a:solidFill>
                <a:latin typeface="Avenir Next"/>
              </a:rPr>
              <a:t>switch · table · threaded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3952" y="4553712"/>
            <a:ext cx="4160520" cy="859536"/>
          </a:xfrm>
          <a:prstGeom prst="roundRect">
            <a:avLst>
              <a:gd name="adj" fmla="val 11702"/>
            </a:avLst>
          </a:prstGeom>
          <a:solidFill>
            <a:srgbClr val="161B22"/>
          </a:solidFill>
          <a:ln w="2032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6EDF3"/>
                </a:solidFill>
                <a:latin typeface="Avenir Next"/>
              </a:rPr>
              <a:t>Native backends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49E"/>
                </a:solidFill>
                <a:latin typeface="Avenir Next"/>
              </a:rPr>
              <a:t>AArch64 · x86-64 · assembler · linker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502152" y="5449824"/>
            <a:ext cx="256032" cy="237744"/>
          </a:xfrm>
          <a:prstGeom prst="down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8430767" y="5449824"/>
            <a:ext cx="256032" cy="237744"/>
          </a:xfrm>
          <a:prstGeom prst="downArrow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78784" y="5687568"/>
            <a:ext cx="6035040" cy="749808"/>
          </a:xfrm>
          <a:prstGeom prst="roundRect">
            <a:avLst>
              <a:gd name="adj" fmla="val 13414"/>
            </a:avLst>
          </a:prstGeom>
          <a:solidFill>
            <a:srgbClr val="161B22"/>
          </a:solidFill>
          <a:ln w="2032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6EDF3"/>
                </a:solidFill>
                <a:latin typeface="Avenir Next"/>
              </a:rPr>
              <a:t>Viper Runtime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49E"/>
                </a:solidFill>
                <a:latin typeface="Avenir Next"/>
              </a:rPr>
              <a:t>graphics · 3D · GUI · game engine · audio · net · 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Avenir Next"/>
              </a:rPr>
              <a:t>TOOLING &amp; GETTING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786384"/>
            <a:ext cx="502920" cy="5029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E6EDF3"/>
                </a:solidFill>
                <a:latin typeface="Avenir Next"/>
              </a:rPr>
              <a:t>From source to native binary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66544"/>
            <a:ext cx="5989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B949E"/>
                </a:solidFill>
                <a:latin typeface="Avenir Next"/>
              </a:rPr>
              <a:t>Try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5989320" cy="1417320"/>
          </a:xfrm>
          <a:prstGeom prst="roundRect">
            <a:avLst>
              <a:gd name="adj" fmla="val 6451"/>
            </a:avLst>
          </a:prstGeom>
          <a:solidFill>
            <a:srgbClr val="0A0E14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64592" rIns="109728" tIns="128016" bIns="9144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E6EDF3"/>
                </a:solidFill>
                <a:latin typeface="Menlo"/>
              </a:rPr>
              <a:t>viper init my-app       </a:t>
            </a:r>
            <a:r>
              <a:rPr sz="1500" b="0">
                <a:solidFill>
                  <a:srgbClr val="6E966E"/>
                </a:solidFill>
                <a:latin typeface="Menlo"/>
              </a:rPr>
              <a:t># scaffold a Zia project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E6EDF3"/>
                </a:solidFill>
                <a:latin typeface="Menlo"/>
              </a:rPr>
              <a:t>viper run my-app        </a:t>
            </a:r>
            <a:r>
              <a:rPr sz="1500" b="0">
                <a:solidFill>
                  <a:srgbClr val="6E966E"/>
                </a:solidFill>
                <a:latin typeface="Menlo"/>
              </a:rPr>
              <a:t># build &amp; run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E6EDF3"/>
                </a:solidFill>
                <a:latin typeface="Menlo"/>
              </a:rPr>
              <a:t>viper repl              </a:t>
            </a:r>
            <a:r>
              <a:rPr sz="1500" b="0">
                <a:solidFill>
                  <a:srgbClr val="6E966E"/>
                </a:solidFill>
                <a:latin typeface="Menlo"/>
              </a:rPr>
              <a:t># interactive REPL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E6EDF3"/>
                </a:solidFill>
                <a:latin typeface="Menlo"/>
              </a:rPr>
              <a:t>viper build app/ -o app </a:t>
            </a:r>
            <a:r>
              <a:rPr sz="1500" b="0">
                <a:solidFill>
                  <a:srgbClr val="6E966E"/>
                </a:solidFill>
                <a:latin typeface="Menlo"/>
              </a:rPr>
              <a:t># native executable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377440"/>
            <a:ext cx="4690872" cy="3337560"/>
          </a:xfrm>
          <a:prstGeom prst="roundRect">
            <a:avLst>
              <a:gd name="adj" fmla="val 3561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56032" tIns="219456" bIns="18288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E6EDF3"/>
                </a:solidFill>
                <a:latin typeface="Avenir Next"/>
              </a:rPr>
              <a:t>In the box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3FB950"/>
                </a:solidFill>
                <a:latin typeface="Menlo"/>
              </a:rPr>
              <a:t>viper</a:t>
            </a:r>
            <a:r>
              <a:rPr sz="1300" b="0">
                <a:solidFill>
                  <a:srgbClr val="8B949E"/>
                </a:solidFill>
                <a:latin typeface="Avenir Next"/>
              </a:rPr>
              <a:t>  unified driver — run/build/package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3FB950"/>
                </a:solidFill>
                <a:latin typeface="Menlo"/>
              </a:rPr>
              <a:t>repl</a:t>
            </a:r>
            <a:r>
              <a:rPr sz="1300" b="0">
                <a:solidFill>
                  <a:srgbClr val="8B949E"/>
                </a:solidFill>
                <a:latin typeface="Avenir Next"/>
              </a:rPr>
              <a:t>  live Zia &amp; BASIC evaluation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3FB950"/>
                </a:solidFill>
                <a:latin typeface="Menlo"/>
              </a:rPr>
              <a:t>il-opt / il-verify</a:t>
            </a:r>
            <a:r>
              <a:rPr sz="1300" b="0">
                <a:solidFill>
                  <a:srgbClr val="8B949E"/>
                </a:solidFill>
                <a:latin typeface="Avenir Next"/>
              </a:rPr>
              <a:t>  optimize &amp; check IL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3FB950"/>
                </a:solidFill>
                <a:latin typeface="Menlo"/>
              </a:rPr>
              <a:t>il-dis</a:t>
            </a:r>
            <a:r>
              <a:rPr sz="1300" b="0">
                <a:solidFill>
                  <a:srgbClr val="8B949E"/>
                </a:solidFill>
                <a:latin typeface="Avenir Next"/>
              </a:rPr>
              <a:t>  disassembler / pretty-printer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3FB950"/>
                </a:solidFill>
                <a:latin typeface="Menlo"/>
              </a:rPr>
              <a:t>zia-server</a:t>
            </a:r>
            <a:r>
              <a:rPr sz="1300" b="0">
                <a:solidFill>
                  <a:srgbClr val="8B949E"/>
                </a:solidFill>
                <a:latin typeface="Avenir Next"/>
              </a:rPr>
              <a:t>  LSP + MCP language server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3FB950"/>
                </a:solidFill>
                <a:latin typeface="Menlo"/>
              </a:rPr>
              <a:t>package</a:t>
            </a:r>
            <a:r>
              <a:rPr sz="1300" b="0">
                <a:solidFill>
                  <a:srgbClr val="8B949E"/>
                </a:solidFill>
                <a:latin typeface="Avenir Next"/>
              </a:rPr>
              <a:t>  installers: .app .deb .exe .tar.gz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77639"/>
            <a:ext cx="5989320" cy="1737360"/>
          </a:xfrm>
          <a:prstGeom prst="roundRect">
            <a:avLst>
              <a:gd name="adj" fmla="val 6842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56032" tIns="201168" bIns="18288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E6EDF3"/>
                </a:solidFill>
                <a:latin typeface="Avenir Next"/>
              </a:rPr>
              <a:t>Built with Viper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E6EDF3"/>
                </a:solidFill>
                <a:latin typeface="Avenir Next"/>
              </a:rPr>
              <a:t>Chess  ·  XENOSCAPE  ·  3D Bowling  ·  Game3D Showcase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B949E"/>
                </a:solidFill>
                <a:latin typeface="Avenir Next"/>
              </a:rPr>
              <a:t>ViperSQL  ·  Paint  ·  6 apps + 17 games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8A6FF"/>
                </a:solidFill>
                <a:latin typeface="Avenir Next"/>
              </a:rPr>
              <a:t>github.com/splanck/viper</a:t>
            </a:r>
            <a:r>
              <a:rPr sz="1500" b="0">
                <a:solidFill>
                  <a:srgbClr val="8B949E"/>
                </a:solidFill>
                <a:latin typeface="Avenir Next"/>
              </a:rPr>
              <a:t>     —     thanks for watching.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