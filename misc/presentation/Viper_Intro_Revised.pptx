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9" r:id="rId20"/>
    <p:sldId id="272" r:id="rId23"/>
    <p:sldId id="257" r:id="rId8"/>
    <p:sldId id="258" r:id="rId9"/>
    <p:sldId id="259" r:id="rId10"/>
    <p:sldId id="268" r:id="rId19"/>
    <p:sldId id="260" r:id="rId11"/>
    <p:sldId id="261" r:id="rId12"/>
    <p:sldId id="262" r:id="rId13"/>
    <p:sldId id="263" r:id="rId14"/>
    <p:sldId id="264" r:id="rId15"/>
    <p:sldId id="265" r:id="rId16"/>
    <p:sldId id="270" r:id="rId21"/>
    <p:sldId id="266" r:id="rId17"/>
    <p:sldId id="267" r:id="rId18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per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29260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An informal introduction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7600" b="1">
                <a:solidFill>
                  <a:srgbClr val="E6EDF3"/>
                </a:solidFill>
                <a:latin typeface="Avenir Next"/>
              </a:rPr>
              <a:t>Viper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8B949E"/>
                </a:solidFill>
                <a:latin typeface="Avenir Next"/>
              </a:rPr>
              <a:t>A from-scratch compiler, VM, runtime, and native toolchain for games and apps.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DF3"/>
                </a:solidFill>
                <a:latin typeface="Avenir Next"/>
              </a:rPr>
              <a:t>Pre-alpha / active development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8B949E"/>
                </a:solidFill>
                <a:latin typeface="Avenir Next"/>
              </a:rPr>
              <a:t>GPL-3.0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8B949E"/>
                </a:solidFill>
                <a:latin typeface="Avenir Next"/>
              </a:rPr>
              <a:t>Linux · macOS · Windows</a:t>
            </a:r>
            <a:r>
              <a:rPr sz="14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400" b="0">
                <a:solidFill>
                  <a:srgbClr val="58A6FF"/>
                </a:solidFill>
                <a:latin typeface="Avenir Next"/>
              </a:rPr>
              <a:t>github.com/splanck/viper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WHY VIPER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The IL is the protagonist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One typed, SSA-based intermediate language sits at the center of everything.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6EDF3"/>
                </a:solidFill>
                <a:latin typeface="Avenir Next"/>
              </a:rPr>
              <a:t>Most toolchains bolt a language onto someone else's stack. Viper inverts that: a small, </a:t>
            </a:r>
            <a:r>
              <a:rPr sz="2000" b="1">
                <a:solidFill>
                  <a:srgbClr val="3FB950"/>
                </a:solidFill>
                <a:latin typeface="Avenir Next"/>
              </a:rPr>
              <a:t>typed, verifiable IL</a:t>
            </a:r>
            <a:r>
              <a:rPr sz="2000" b="0">
                <a:solidFill>
                  <a:srgbClr val="E6EDF3"/>
                </a:solidFill>
                <a:latin typeface="Avenir Next"/>
              </a:rPr>
              <a:t> is the contract. Every language compiles to it, every backend consumes it, and one runtime serves them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2639" y="4023360"/>
            <a:ext cx="3017520" cy="1097280"/>
          </a:xfrm>
          <a:prstGeom prst="roundRect">
            <a:avLst>
              <a:gd name="adj" fmla="val 10833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E6EDF3"/>
                </a:solidFill>
                <a:latin typeface="Avenir Next"/>
              </a:rPr>
              <a:t>Zia · BASIC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languages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0159" y="4407408"/>
            <a:ext cx="566928" cy="329184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87087" y="402336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A0E14"/>
                </a:solidFill>
                <a:latin typeface="Avenir Next"/>
              </a:rPr>
              <a:t>Viper IL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A0E14"/>
                </a:solidFill>
                <a:latin typeface="Avenir Next"/>
              </a:rPr>
              <a:t>typed SSA · verified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04607" y="4407408"/>
            <a:ext cx="566928" cy="329184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71535" y="4023360"/>
            <a:ext cx="3017520" cy="1097280"/>
          </a:xfrm>
          <a:prstGeom prst="roundRect">
            <a:avLst>
              <a:gd name="adj" fmla="val 10833"/>
            </a:avLst>
          </a:prstGeom>
          <a:solidFill>
            <a:srgbClr val="161B22"/>
          </a:solidFill>
          <a:ln w="190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E6EDF3"/>
                </a:solidFill>
                <a:latin typeface="Avenir Next"/>
              </a:rPr>
              <a:t>VM · Native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run or 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31536"/>
            <a:ext cx="10881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49E"/>
                </a:solidFill>
                <a:latin typeface="Avenir Next"/>
              </a:rPr>
              <a:t>Frontends and backends are interchangeable — the IL is the one thing they all agree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04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THE CORE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One IL. Many languages. VM and native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62636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200"/>
              </a:spcAft>
            </a:pPr>
            <a:r>
              <a:rPr sz="21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100" b="0">
                <a:solidFill>
                  <a:srgbClr val="E6EDF3"/>
                </a:solidFill>
                <a:latin typeface="Avenir Next"/>
              </a:rPr>
              <a:t>Programs in </a:t>
            </a:r>
            <a:r>
              <a:rPr sz="2100" b="1">
                <a:solidFill>
                  <a:srgbClr val="3FB950"/>
                </a:solidFill>
                <a:latin typeface="Avenir Next"/>
              </a:rPr>
              <a:t>Zia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or </a:t>
            </a:r>
            <a:r>
              <a:rPr sz="2100" b="1">
                <a:solidFill>
                  <a:srgbClr val="3FB950"/>
                </a:solidFill>
                <a:latin typeface="Avenir Next"/>
              </a:rPr>
              <a:t>BASIC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compile to </a:t>
            </a:r>
            <a:r>
              <a:rPr sz="2100" b="1">
                <a:solidFill>
                  <a:srgbClr val="3FB950"/>
                </a:solidFill>
                <a:latin typeface="Avenir Next"/>
              </a:rPr>
              <a:t>Viper IL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— a typed, SSA-based intermediate language.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200"/>
              </a:spcAft>
            </a:pPr>
            <a:r>
              <a:rPr sz="21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100" b="0">
                <a:solidFill>
                  <a:srgbClr val="E6EDF3"/>
                </a:solidFill>
                <a:latin typeface="Avenir Next"/>
              </a:rPr>
              <a:t>The IL is the </a:t>
            </a:r>
            <a:r>
              <a:rPr sz="2100" b="1">
                <a:solidFill>
                  <a:srgbClr val="E6EDF3"/>
                </a:solidFill>
                <a:latin typeface="Avenir Next"/>
              </a:rPr>
              <a:t>“thin waist”</a:t>
            </a:r>
            <a:r>
              <a:rPr sz="2100" b="0">
                <a:solidFill>
                  <a:srgbClr val="E6EDF3"/>
                </a:solidFill>
                <a:latin typeface="Avenir Next"/>
              </a:rPr>
              <a:t>: frontends and backends plug into it independently.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200"/>
              </a:spcAft>
            </a:pPr>
            <a:r>
              <a:rPr sz="21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2100" b="0">
                <a:solidFill>
                  <a:srgbClr val="E6EDF3"/>
                </a:solidFill>
                <a:latin typeface="Avenir Next"/>
              </a:rPr>
              <a:t>Run it on the </a:t>
            </a:r>
            <a:r>
              <a:rPr sz="2100" b="1">
                <a:solidFill>
                  <a:srgbClr val="58A6FF"/>
                </a:solidFill>
                <a:latin typeface="Avenir Next"/>
              </a:rPr>
              <a:t>VM</a:t>
            </a:r>
            <a:r>
              <a:rPr sz="2100" b="0">
                <a:solidFill>
                  <a:srgbClr val="E6EDF3"/>
                </a:solidFill>
                <a:latin typeface="Avenir Next"/>
              </a:rPr>
              <a:t> for fast iteration, or compile straight to </a:t>
            </a:r>
            <a:r>
              <a:rPr sz="2100" b="1">
                <a:solidFill>
                  <a:srgbClr val="58A6FF"/>
                </a:solidFill>
                <a:latin typeface="Avenir Next"/>
              </a:rPr>
              <a:t>native machine code</a:t>
            </a:r>
            <a:r>
              <a:rPr sz="2100" b="0">
                <a:solidFill>
                  <a:srgbClr val="E6EDF3"/>
                </a:solidFill>
                <a:latin typeface="Avenir Next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2057400"/>
            <a:ext cx="4370832" cy="377952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92608" rIns="256032" tIns="274320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100" b="1">
                <a:solidFill>
                  <a:srgbClr val="E6EDF3"/>
                </a:solidFill>
                <a:latin typeface="Avenir Next"/>
              </a:rPr>
              <a:t>Self-contained stack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0">
                <a:solidFill>
                  <a:srgbClr val="8B949E"/>
                </a:solidFill>
                <a:latin typeface="Avenir Next"/>
              </a:rPr>
              <a:t>Every layer of the stack is implemented in the Viper repo.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Compiler, VM, assembler, linker, runtime in-tree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Native code generation without LLVM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Custom runtime and graphics layers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55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550" b="0">
                <a:solidFill>
                  <a:srgbClr val="E6EDF3"/>
                </a:solidFill>
                <a:latin typeface="Avenir Next"/>
              </a:rPr>
              <a:t>Minimal third-party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05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FRONTENDS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Two languages, one target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349240" cy="338328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E6EDF3"/>
                </a:solidFill>
                <a:latin typeface="Avenir Next"/>
              </a:rPr>
              <a:t>Zia</a:t>
            </a:r>
            <a:r>
              <a:rPr sz="1400" b="0">
                <a:solidFill>
                  <a:srgbClr val="3FB950"/>
                </a:solidFill>
                <a:latin typeface="Avenir Next"/>
              </a:rPr>
              <a:t>   the main language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Modern, statically typed — designed for apps and games.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Classes, generics &amp; enums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Lambdas &amp; modules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Pattern matching &amp; exhaustiveness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Memory-safe user surface — no raw pointers in normal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103120"/>
            <a:ext cx="5349240" cy="3383280"/>
          </a:xfrm>
          <a:prstGeom prst="roundRect">
            <a:avLst>
              <a:gd name="adj" fmla="val 3513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E6EDF3"/>
                </a:solidFill>
                <a:latin typeface="Avenir Next"/>
              </a:rPr>
              <a:t>BASIC</a:t>
            </a:r>
            <a:r>
              <a:rPr sz="1400" b="0">
                <a:solidFill>
                  <a:srgbClr val="58A6FF"/>
                </a:solidFill>
                <a:latin typeface="Avenir Next"/>
              </a:rPr>
              <a:t>   the teaching / prototyping frontend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A classic, approachable dialect for rapid prototyping.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Familiar LET / PRINT / IF / WHILE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Lexer + recursive-descent parser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Intrinsics lower to runtime calls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✓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Great for learning the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DF3"/>
                </a:solidFill>
                <a:latin typeface="Avenir Next"/>
              </a:rPr>
              <a:t>Both lower to the same Viper IL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— so they share the same optimizer, backends, and runtime library.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06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VIPER 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Typed, SSA-based, and inspectable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63623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Zia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074920" cy="3840480"/>
          </a:xfrm>
          <a:prstGeom prst="roundRect">
            <a:avLst>
              <a:gd name="adj" fmla="val 238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FF7B72"/>
                </a:solidFill>
                <a:latin typeface="Menlo"/>
              </a:rPr>
              <a:t>module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Hello</a:t>
            </a:r>
            <a:r>
              <a:rPr sz="135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FF7B72"/>
                </a:solidFill>
                <a:latin typeface="Menlo"/>
              </a:rPr>
              <a:t>bind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3FB950"/>
                </a:solidFill>
                <a:latin typeface="Menlo"/>
              </a:rPr>
              <a:t>Viper</a:t>
            </a:r>
            <a:r>
              <a:rPr sz="1350" b="0">
                <a:solidFill>
                  <a:srgbClr val="E6EDF3"/>
                </a:solidFill>
                <a:latin typeface="Menlo"/>
              </a:rPr>
              <a:t>.</a:t>
            </a:r>
            <a:r>
              <a:rPr sz="135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FF7B72"/>
                </a:solidFill>
                <a:latin typeface="Menlo"/>
              </a:rPr>
              <a:t>as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5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FF7B72"/>
                </a:solidFill>
                <a:latin typeface="Menlo"/>
              </a:rPr>
              <a:t>bind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3FB950"/>
                </a:solidFill>
                <a:latin typeface="Menlo"/>
              </a:rPr>
              <a:t>Viper</a:t>
            </a:r>
            <a:r>
              <a:rPr sz="1350" b="0">
                <a:solidFill>
                  <a:srgbClr val="E6EDF3"/>
                </a:solidFill>
                <a:latin typeface="Menlo"/>
              </a:rPr>
              <a:t>.</a:t>
            </a:r>
            <a:r>
              <a:rPr sz="1350" b="0">
                <a:solidFill>
                  <a:srgbClr val="3FB950"/>
                </a:solidFill>
                <a:latin typeface="Menlo"/>
              </a:rPr>
              <a:t>Text</a:t>
            </a:r>
            <a:r>
              <a:rPr sz="1350" b="0">
                <a:solidFill>
                  <a:srgbClr val="E6EDF3"/>
                </a:solidFill>
                <a:latin typeface="Menlo"/>
              </a:rPr>
              <a:t>.</a:t>
            </a:r>
            <a:r>
              <a:rPr sz="1350" b="0">
                <a:solidFill>
                  <a:srgbClr val="3FB950"/>
                </a:solidFill>
                <a:latin typeface="Menlo"/>
              </a:rPr>
              <a:t>Fmt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FF7B72"/>
                </a:solidFill>
                <a:latin typeface="Menlo"/>
              </a:rPr>
              <a:t>as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3FB950"/>
                </a:solidFill>
                <a:latin typeface="Menlo"/>
              </a:rPr>
              <a:t>Fmt</a:t>
            </a:r>
            <a:r>
              <a:rPr sz="135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FF7B72"/>
                </a:solidFill>
                <a:latin typeface="Menlo"/>
              </a:rPr>
              <a:t>func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start</a:t>
            </a:r>
            <a:r>
              <a:rPr sz="1350" b="0">
                <a:solidFill>
                  <a:srgbClr val="E6EDF3"/>
                </a:solidFill>
                <a:latin typeface="Menlo"/>
              </a:rPr>
              <a:t>()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</a:t>
            </a:r>
            <a:r>
              <a:rPr sz="1350" b="0">
                <a:solidFill>
                  <a:srgbClr val="FF7B72"/>
                </a:solidFill>
                <a:latin typeface="Menlo"/>
              </a:rPr>
              <a:t>var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x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FF7B72"/>
                </a:solidFill>
                <a:latin typeface="Menlo"/>
              </a:rPr>
              <a:t>=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79C0FF"/>
                </a:solidFill>
                <a:latin typeface="Menlo"/>
              </a:rPr>
              <a:t>2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FF7B72"/>
                </a:solidFill>
                <a:latin typeface="Menlo"/>
              </a:rPr>
              <a:t>+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79C0FF"/>
                </a:solidFill>
                <a:latin typeface="Menlo"/>
              </a:rPr>
              <a:t>3</a:t>
            </a:r>
            <a:r>
              <a:rPr sz="135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</a:t>
            </a:r>
            <a:r>
              <a:rPr sz="1350" b="0">
                <a:solidFill>
                  <a:srgbClr val="FF7B72"/>
                </a:solidFill>
                <a:latin typeface="Menlo"/>
              </a:rPr>
              <a:t>var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y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FF7B72"/>
                </a:solidFill>
                <a:latin typeface="Menlo"/>
              </a:rPr>
              <a:t>=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x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FF7B72"/>
                </a:solidFill>
                <a:latin typeface="Menlo"/>
              </a:rPr>
              <a:t>*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79C0FF"/>
                </a:solidFill>
                <a:latin typeface="Menlo"/>
              </a:rPr>
              <a:t>2</a:t>
            </a:r>
            <a:r>
              <a:rPr sz="135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</a:t>
            </a:r>
            <a:r>
              <a:rPr sz="135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50" b="0">
                <a:solidFill>
                  <a:srgbClr val="E6EDF3"/>
                </a:solidFill>
                <a:latin typeface="Menlo"/>
              </a:rPr>
              <a:t>.</a:t>
            </a:r>
            <a:r>
              <a:rPr sz="1350" b="0">
                <a:solidFill>
                  <a:srgbClr val="D2A8FF"/>
                </a:solidFill>
                <a:latin typeface="Menlo"/>
              </a:rPr>
              <a:t>Say</a:t>
            </a:r>
            <a:r>
              <a:rPr sz="1350" b="0">
                <a:solidFill>
                  <a:srgbClr val="E6EDF3"/>
                </a:solidFill>
                <a:latin typeface="Menlo"/>
              </a:rPr>
              <a:t>(</a:t>
            </a:r>
            <a:r>
              <a:rPr sz="1350" b="0">
                <a:solidFill>
                  <a:srgbClr val="A5D6FF"/>
                </a:solidFill>
                <a:latin typeface="Menlo"/>
              </a:rPr>
              <a:t>"HELLO"</a:t>
            </a:r>
            <a:r>
              <a:rPr sz="1350" b="0">
                <a:solidFill>
                  <a:srgbClr val="E6EDF3"/>
                </a:solidFill>
                <a:latin typeface="Menlo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    </a:t>
            </a:r>
            <a:r>
              <a:rPr sz="135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50" b="0">
                <a:solidFill>
                  <a:srgbClr val="E6EDF3"/>
                </a:solidFill>
                <a:latin typeface="Menlo"/>
              </a:rPr>
              <a:t>.</a:t>
            </a:r>
            <a:r>
              <a:rPr sz="1350" b="0">
                <a:solidFill>
                  <a:srgbClr val="D2A8FF"/>
                </a:solidFill>
                <a:latin typeface="Menlo"/>
              </a:rPr>
              <a:t>Say</a:t>
            </a:r>
            <a:r>
              <a:rPr sz="1350" b="0">
                <a:solidFill>
                  <a:srgbClr val="E6EDF3"/>
                </a:solidFill>
                <a:latin typeface="Menlo"/>
              </a:rPr>
              <a:t>(</a:t>
            </a:r>
            <a:r>
              <a:rPr sz="1350" b="0">
                <a:solidFill>
                  <a:srgbClr val="3FB950"/>
                </a:solidFill>
                <a:latin typeface="Menlo"/>
              </a:rPr>
              <a:t>Fmt</a:t>
            </a:r>
            <a:r>
              <a:rPr sz="1350" b="0">
                <a:solidFill>
                  <a:srgbClr val="E6EDF3"/>
                </a:solidFill>
                <a:latin typeface="Menlo"/>
              </a:rPr>
              <a:t>.</a:t>
            </a:r>
            <a:r>
              <a:rPr sz="1350" b="0">
                <a:solidFill>
                  <a:srgbClr val="D2A8FF"/>
                </a:solidFill>
                <a:latin typeface="Menlo"/>
              </a:rPr>
              <a:t>Int</a:t>
            </a:r>
            <a:r>
              <a:rPr sz="1350" b="0">
                <a:solidFill>
                  <a:srgbClr val="E6EDF3"/>
                </a:solidFill>
                <a:latin typeface="Menlo"/>
              </a:rPr>
              <a:t>(</a:t>
            </a:r>
            <a:r>
              <a:rPr sz="1350" b="0">
                <a:solidFill>
                  <a:srgbClr val="E6EDF3"/>
                </a:solidFill>
                <a:latin typeface="Menlo"/>
              </a:rPr>
              <a:t>y</a:t>
            </a:r>
            <a:r>
              <a:rPr sz="1350" b="0">
                <a:solidFill>
                  <a:srgbClr val="E6EDF3"/>
                </a:solidFill>
                <a:latin typeface="Menlo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70448" y="3566160"/>
            <a:ext cx="457200" cy="384048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563623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Viper IL — unoptimized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874519"/>
            <a:ext cx="5074920" cy="3840480"/>
          </a:xfrm>
          <a:prstGeom prst="roundRect">
            <a:avLst>
              <a:gd name="adj" fmla="val 238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F7B72"/>
                </a:solidFill>
                <a:latin typeface="Menlo"/>
              </a:rPr>
              <a:t>il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79C0FF"/>
                </a:solidFill>
                <a:latin typeface="Menlo"/>
              </a:rPr>
              <a:t>0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79C0FF"/>
                </a:solidFill>
                <a:latin typeface="Menlo"/>
              </a:rPr>
              <a:t>2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79C0FF"/>
                </a:solidFill>
                <a:latin typeface="Menlo"/>
              </a:rPr>
              <a:t>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F7B72"/>
                </a:solidFill>
                <a:latin typeface="Menlo"/>
              </a:rPr>
              <a:t>global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const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str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@.</a:t>
            </a:r>
            <a:r>
              <a:rPr sz="1150" b="0">
                <a:solidFill>
                  <a:srgbClr val="E6EDF3"/>
                </a:solidFill>
                <a:latin typeface="Menlo"/>
              </a:rPr>
              <a:t>L0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A5D6FF"/>
                </a:solidFill>
                <a:latin typeface="Menlo"/>
              </a:rPr>
              <a:t>"HELLO"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F7B72"/>
                </a:solidFill>
                <a:latin typeface="Menlo"/>
              </a:rPr>
              <a:t>func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@</a:t>
            </a:r>
            <a:r>
              <a:rPr sz="1150" b="0">
                <a:solidFill>
                  <a:srgbClr val="E6EDF3"/>
                </a:solidFill>
                <a:latin typeface="Menlo"/>
              </a:rPr>
              <a:t>main</a:t>
            </a:r>
            <a:r>
              <a:rPr sz="1150" b="0">
                <a:solidFill>
                  <a:srgbClr val="E6EDF3"/>
                </a:solidFill>
                <a:latin typeface="Menlo"/>
              </a:rPr>
              <a:t>()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-&gt;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void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FF7B72"/>
                </a:solidFill>
                <a:latin typeface="Menlo"/>
              </a:rPr>
              <a:t>entry_0</a:t>
            </a:r>
            <a:r>
              <a:rPr sz="1150" b="0">
                <a:solidFill>
                  <a:srgbClr val="E6EDF3"/>
                </a:solidFill>
                <a:latin typeface="Menlo"/>
              </a:rPr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t0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iadd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E6EDF3"/>
                </a:solidFill>
                <a:latin typeface="Menlo"/>
              </a:rPr>
              <a:t>ovf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79C0FF"/>
                </a:solidFill>
                <a:latin typeface="Menlo"/>
              </a:rPr>
              <a:t>2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79C0FF"/>
                </a:solidFill>
                <a:latin typeface="Menlo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t1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alloca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79C0FF"/>
                </a:solidFill>
                <a:latin typeface="Menlo"/>
              </a:rPr>
              <a:t>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store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i64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t1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t2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load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i64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t3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imul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E6EDF3"/>
                </a:solidFill>
                <a:latin typeface="Menlo"/>
              </a:rPr>
              <a:t>ovf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t2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79C0FF"/>
                </a:solidFill>
                <a:latin typeface="Menlo"/>
              </a:rPr>
              <a:t>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t4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alloca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79C0FF"/>
                </a:solidFill>
                <a:latin typeface="Menlo"/>
              </a:rPr>
              <a:t>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store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i64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t4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t5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const_str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@.</a:t>
            </a:r>
            <a:r>
              <a:rPr sz="1150" b="0">
                <a:solidFill>
                  <a:srgbClr val="E6EDF3"/>
                </a:solidFill>
                <a:latin typeface="Menlo"/>
              </a:rPr>
              <a:t>L0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call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@</a:t>
            </a:r>
            <a:r>
              <a:rPr sz="1150" b="0">
                <a:solidFill>
                  <a:srgbClr val="3FB950"/>
                </a:solidFill>
                <a:latin typeface="Menlo"/>
              </a:rPr>
              <a:t>Viper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3FB950"/>
                </a:solidFill>
                <a:latin typeface="Menlo"/>
              </a:rPr>
              <a:t>Terminal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D2A8FF"/>
                </a:solidFill>
                <a:latin typeface="Menlo"/>
              </a:rPr>
              <a:t>Say</a:t>
            </a:r>
            <a:r>
              <a:rPr sz="1150" b="0">
                <a:solidFill>
                  <a:srgbClr val="E6EDF3"/>
                </a:solidFill>
                <a:latin typeface="Menlo"/>
              </a:rPr>
              <a:t>(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t5</a:t>
            </a:r>
            <a:r>
              <a:rPr sz="1150" b="0">
                <a:solidFill>
                  <a:srgbClr val="E6EDF3"/>
                </a:solidFill>
                <a:latin typeface="Menlo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t6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load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i64</a:t>
            </a:r>
            <a:r>
              <a:rPr sz="1150" b="0">
                <a:solidFill>
                  <a:srgbClr val="E6EDF3"/>
                </a:solidFill>
                <a:latin typeface="Menlo"/>
              </a:rPr>
              <a:t>,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t7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=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FF7B72"/>
                </a:solidFill>
                <a:latin typeface="Menlo"/>
              </a:rPr>
              <a:t>call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@</a:t>
            </a:r>
            <a:r>
              <a:rPr sz="1150" b="0">
                <a:solidFill>
                  <a:srgbClr val="3FB950"/>
                </a:solidFill>
                <a:latin typeface="Menlo"/>
              </a:rPr>
              <a:t>Viper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3FB950"/>
                </a:solidFill>
                <a:latin typeface="Menlo"/>
              </a:rPr>
              <a:t>Text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3FB950"/>
                </a:solidFill>
                <a:latin typeface="Menlo"/>
              </a:rPr>
              <a:t>Fmt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D2A8FF"/>
                </a:solidFill>
                <a:latin typeface="Menlo"/>
              </a:rPr>
              <a:t>Int</a:t>
            </a:r>
            <a:r>
              <a:rPr sz="1150" b="0">
                <a:solidFill>
                  <a:srgbClr val="E6EDF3"/>
                </a:solidFill>
                <a:latin typeface="Menlo"/>
              </a:rPr>
              <a:t>(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t6</a:t>
            </a:r>
            <a:r>
              <a:rPr sz="1150" b="0">
                <a:solidFill>
                  <a:srgbClr val="E6EDF3"/>
                </a:solidFill>
                <a:latin typeface="Menlo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call</a:t>
            </a:r>
            <a:r>
              <a:rPr sz="1150" b="0">
                <a:solidFill>
                  <a:srgbClr val="E6EDF3"/>
                </a:solidFill>
                <a:latin typeface="Menlo"/>
              </a:rPr>
              <a:t> </a:t>
            </a:r>
            <a:r>
              <a:rPr sz="1150" b="0">
                <a:solidFill>
                  <a:srgbClr val="E6EDF3"/>
                </a:solidFill>
                <a:latin typeface="Menlo"/>
              </a:rPr>
              <a:t>@</a:t>
            </a:r>
            <a:r>
              <a:rPr sz="1150" b="0">
                <a:solidFill>
                  <a:srgbClr val="3FB950"/>
                </a:solidFill>
                <a:latin typeface="Menlo"/>
              </a:rPr>
              <a:t>Viper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3FB950"/>
                </a:solidFill>
                <a:latin typeface="Menlo"/>
              </a:rPr>
              <a:t>Terminal</a:t>
            </a:r>
            <a:r>
              <a:rPr sz="1150" b="0">
                <a:solidFill>
                  <a:srgbClr val="E6EDF3"/>
                </a:solidFill>
                <a:latin typeface="Menlo"/>
              </a:rPr>
              <a:t>.</a:t>
            </a:r>
            <a:r>
              <a:rPr sz="1150" b="0">
                <a:solidFill>
                  <a:srgbClr val="D2A8FF"/>
                </a:solidFill>
                <a:latin typeface="Menlo"/>
              </a:rPr>
              <a:t>Say</a:t>
            </a:r>
            <a:r>
              <a:rPr sz="1150" b="0">
                <a:solidFill>
                  <a:srgbClr val="E6EDF3"/>
                </a:solidFill>
                <a:latin typeface="Menlo"/>
              </a:rPr>
              <a:t>(</a:t>
            </a:r>
            <a:r>
              <a:rPr sz="1150" b="0">
                <a:solidFill>
                  <a:srgbClr val="FF7B72"/>
                </a:solidFill>
                <a:latin typeface="Menlo"/>
              </a:rPr>
              <a:t>%</a:t>
            </a:r>
            <a:r>
              <a:rPr sz="1150" b="0">
                <a:solidFill>
                  <a:srgbClr val="E6EDF3"/>
                </a:solidFill>
                <a:latin typeface="Menlo"/>
              </a:rPr>
              <a:t>t7</a:t>
            </a:r>
            <a:r>
              <a:rPr sz="1150" b="0">
                <a:solidFill>
                  <a:srgbClr val="E6EDF3"/>
                </a:solidFill>
                <a:latin typeface="Menlo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  </a:t>
            </a:r>
            <a:r>
              <a:rPr sz="1150" b="0">
                <a:solidFill>
                  <a:srgbClr val="FF7B72"/>
                </a:solidFill>
                <a:latin typeface="Menlo"/>
              </a:rPr>
              <a:t>ret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6EDF3"/>
                </a:solidFill>
                <a:latin typeface="Menlo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Avenir Next"/>
              </a:rPr>
              <a:t>A verifier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enforces structural and type invariants, then a </a:t>
            </a:r>
            <a:r>
              <a:rPr sz="1500" b="1">
                <a:solidFill>
                  <a:srgbClr val="58A6FF"/>
                </a:solidFill>
                <a:latin typeface="Avenir Next"/>
              </a:rPr>
              <a:t>24-pass optimizer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runs GVN, LICM, SCCP, inlining, loop opts, and more.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08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The end-to-end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5984" y="1541600"/>
            <a:ext cx="51206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2032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Source languages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Zia · BASIC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68288" y="2364560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35984" y="2584016"/>
            <a:ext cx="51206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Frontend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lex · parse · sema · lower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8288" y="340697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78784" y="3626432"/>
            <a:ext cx="6035040" cy="804672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2032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FB950"/>
                </a:solidFill>
                <a:latin typeface="Avenir Next"/>
              </a:rPr>
              <a:t>Viper IL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typed SSA · verifier · 24-pass optimizer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502152" y="450425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8430767" y="4504256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4723712"/>
            <a:ext cx="4160520" cy="859536"/>
          </a:xfrm>
          <a:prstGeom prst="roundRect">
            <a:avLst>
              <a:gd name="adj" fmla="val 11702"/>
            </a:avLst>
          </a:prstGeom>
          <a:solidFill>
            <a:srgbClr val="161B22"/>
          </a:solidFill>
          <a:ln w="2032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Bytecode VM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switch · table · threaded dispatch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3952" y="4723712"/>
            <a:ext cx="4160520" cy="859536"/>
          </a:xfrm>
          <a:prstGeom prst="roundRect">
            <a:avLst>
              <a:gd name="adj" fmla="val 11702"/>
            </a:avLst>
          </a:prstGeom>
          <a:solidFill>
            <a:srgbClr val="161B22"/>
          </a:solidFill>
          <a:ln w="2032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Native path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AArch64 · x86-64 · assembler · linker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502152" y="5619824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430767" y="5619824"/>
            <a:ext cx="256032" cy="237744"/>
          </a:xfrm>
          <a:prstGeom prst="downArrow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78784" y="5857568"/>
            <a:ext cx="6035040" cy="749808"/>
          </a:xfrm>
          <a:prstGeom prst="roundRect">
            <a:avLst>
              <a:gd name="adj" fmla="val 13414"/>
            </a:avLst>
          </a:prstGeom>
          <a:solidFill>
            <a:srgbClr val="161B22"/>
          </a:solidFill>
          <a:ln w="2032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DF3"/>
                </a:solidFill>
                <a:latin typeface="Avenir Next"/>
              </a:rPr>
              <a:t>Viper Runtime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49E"/>
                </a:solidFill>
                <a:latin typeface="Avenir Next"/>
              </a:rPr>
              <a:t>graphics · GUI · 3D · audio · net · crypto · game systems ·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09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EXECUTION · 1 OF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Fast iteration on the VM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The primary development and debugging target.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40680" cy="3429000"/>
          </a:xfrm>
          <a:prstGeom prst="roundRect">
            <a:avLst>
              <a:gd name="adj" fmla="val 3466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58A6FF"/>
                </a:solidFill>
                <a:latin typeface="Avenir Next"/>
              </a:rPr>
              <a:t>The VM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Register-file bytecode interpreter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Switch · table · threaded-goto dispatch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Pooled frames · cached string literals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Structured trap diagnostics · execution tracing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22951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Edit → run → repeat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606040"/>
            <a:ext cx="5120640" cy="2331720"/>
          </a:xfrm>
          <a:prstGeom prst="roundRect">
            <a:avLst>
              <a:gd name="adj" fmla="val 3921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Menlo"/>
              </a:rPr>
              <a:t>$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D2A8FF"/>
                </a:solidFill>
                <a:latin typeface="Menlo"/>
              </a:rPr>
              <a:t>viper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D2A8FF"/>
                </a:solidFill>
                <a:latin typeface="Menlo"/>
              </a:rPr>
              <a:t>run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A5D6FF"/>
                </a:solidFill>
                <a:latin typeface="Menlo"/>
              </a:rPr>
              <a:t>game.zia</a:t>
            </a:r>
            <a:r>
              <a:rPr sz="1300" b="0">
                <a:solidFill>
                  <a:srgbClr val="E6EDF3"/>
                </a:solidFill>
                <a:latin typeface="Menlo"/>
              </a:rPr>
              <a:t>      </a:t>
            </a:r>
            <a:r>
              <a:rPr sz="1300" b="0">
                <a:solidFill>
                  <a:srgbClr val="6E966E"/>
                </a:solidFill>
                <a:latin typeface="Menlo"/>
              </a:rPr>
              <a:t># no build step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Menlo"/>
              </a:rPr>
              <a:t>$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D2A8FF"/>
                </a:solidFill>
                <a:latin typeface="Menlo"/>
              </a:rPr>
              <a:t>viper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D2A8FF"/>
                </a:solidFill>
                <a:latin typeface="Menlo"/>
              </a:rPr>
              <a:t>repl</a:t>
            </a:r>
            <a:r>
              <a:rPr sz="1300" b="0">
                <a:solidFill>
                  <a:srgbClr val="E6EDF3"/>
                </a:solidFill>
                <a:latin typeface="Menlo"/>
              </a:rPr>
              <a:t>              </a:t>
            </a:r>
            <a:r>
              <a:rPr sz="1300" b="0">
                <a:solidFill>
                  <a:srgbClr val="6E966E"/>
                </a:solidFill>
                <a:latin typeface="Menlo"/>
              </a:rPr>
              <a:t># live evaluation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Menlo"/>
              </a:rPr>
              <a:t>zia&gt;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D2A8FF"/>
                </a:solidFill>
                <a:latin typeface="Menlo"/>
              </a:rPr>
              <a:t>Say</a:t>
            </a:r>
            <a:r>
              <a:rPr sz="1300" b="0">
                <a:solidFill>
                  <a:srgbClr val="E6EDF3"/>
                </a:solidFill>
                <a:latin typeface="Menlo"/>
              </a:rPr>
              <a:t>(</a:t>
            </a:r>
            <a:r>
              <a:rPr sz="1300" b="0">
                <a:solidFill>
                  <a:srgbClr val="A5D6FF"/>
                </a:solidFill>
                <a:latin typeface="Menlo"/>
              </a:rPr>
              <a:t>"hello"</a:t>
            </a:r>
            <a:r>
              <a:rPr sz="1300" b="0">
                <a:solidFill>
                  <a:srgbClr val="E6EDF3"/>
                </a:solidFill>
                <a:latin typeface="Menlo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hello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Menlo"/>
              </a:rPr>
              <a:t>zia&gt;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D2A8FF"/>
                </a:solidFill>
                <a:latin typeface="Menlo"/>
              </a:rPr>
              <a:t>Say</a:t>
            </a:r>
            <a:r>
              <a:rPr sz="1300" b="0">
                <a:solidFill>
                  <a:srgbClr val="E6EDF3"/>
                </a:solidFill>
                <a:latin typeface="Menlo"/>
              </a:rPr>
              <a:t>(Fmt.Int(</a:t>
            </a:r>
            <a:r>
              <a:rPr sz="1300" b="0">
                <a:solidFill>
                  <a:srgbClr val="79C0FF"/>
                </a:solidFill>
                <a:latin typeface="Menlo"/>
              </a:rPr>
              <a:t>2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+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3))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79C0FF"/>
                </a:solidFill>
                <a:latin typeface="Menlo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138928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Avenir Next"/>
              </a:rPr>
              <a:t>No compile step</a:t>
            </a:r>
            <a:r>
              <a:rPr sz="1450" b="0">
                <a:solidFill>
                  <a:srgbClr val="8B949E"/>
                </a:solidFill>
                <a:latin typeface="Avenir Next"/>
              </a:rPr>
              <a:t> — see results right away, then build the same IL as a native binary.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10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EXECUTION · 2 OF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Compile straight to a native binary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Same IL, no VM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40680" cy="3429000"/>
          </a:xfrm>
          <a:prstGeom prst="roundRect">
            <a:avLst>
              <a:gd name="adj" fmla="val 3466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3FB950"/>
                </a:solidFill>
                <a:latin typeface="Avenir Next"/>
              </a:rPr>
              <a:t>Native path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AArch64 and x86-64 targets for macOS, Windows, and Linux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Register coalescing · post-RA scheduling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1">
                <a:solidFill>
                  <a:srgbClr val="E6EDF3"/>
                </a:solidFill>
                <a:latin typeface="Avenir Next"/>
              </a:rPr>
              <a:t>Built-in assembler + linker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ELF · Mach-O · PE output with debug info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286000"/>
            <a:ext cx="5285232" cy="3429000"/>
          </a:xfrm>
          <a:prstGeom prst="roundRect">
            <a:avLst>
              <a:gd name="adj" fmla="val 3466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46888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>
                <a:solidFill>
                  <a:srgbClr val="58A6FF"/>
                </a:solidFill>
                <a:latin typeface="Avenir Next"/>
              </a:rPr>
              <a:t>Verified equivalence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600"/>
              </a:spcAft>
            </a:pPr>
            <a:r>
              <a:rPr sz="1550" b="0">
                <a:solidFill>
                  <a:srgbClr val="8B949E"/>
                </a:solidFill>
                <a:latin typeface="Avenir Next"/>
              </a:rPr>
              <a:t>VM and native outputs must match for every defined program.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Differential testing — VM vs. native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~18 fuzz harnesses on parser &amp; 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3FB950"/>
                </a:solidFill>
                <a:latin typeface="Avenir Next"/>
              </a:rPr>
              <a:t>▸  </a:t>
            </a:r>
            <a:r>
              <a:rPr sz="1600" b="0">
                <a:solidFill>
                  <a:srgbClr val="E6EDF3"/>
                </a:solidFill>
                <a:latin typeface="Avenir Next"/>
              </a:rPr>
              <a:t>ASAN · UBSAN · TSAN sanitizer lanes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THE RUNTIME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One standard library, every frontend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436 classes across 22 modules — shared through a C ABI by both the VM and native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57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Graphics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57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53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46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Graphics3D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2550" y="2331720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34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Game3D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29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Collections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27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Game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550" y="3282696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23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Utilities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22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757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Threads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506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16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I/O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2550" y="4233672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12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Math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10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Localization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757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Crypto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506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Sound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550" y="5184648"/>
            <a:ext cx="2576322" cy="768096"/>
          </a:xfrm>
          <a:prstGeom prst="roundRect">
            <a:avLst>
              <a:gd name="adj" fmla="val 13095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tIns="5486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3FB950"/>
                </a:solidFill>
                <a:latin typeface="Avenir Next"/>
              </a:rPr>
              <a:t>8</a:t>
            </a:r>
            <a:r>
              <a:rPr sz="1050" b="0">
                <a:solidFill>
                  <a:srgbClr val="8B949E"/>
                </a:solidFill>
                <a:latin typeface="Avenir Next"/>
              </a:rPr>
              <a:t>  classes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DF3"/>
                </a:solidFill>
                <a:latin typeface="Avenir Next"/>
              </a:rPr>
              <a:t>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6305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49E"/>
                </a:solidFill>
                <a:latin typeface="Avenir Next"/>
              </a:rPr>
              <a:t>Plus</a:t>
            </a:r>
            <a:r>
              <a:rPr sz="1400" b="0">
                <a:solidFill>
                  <a:srgbClr val="E6EDF3"/>
                </a:solidFill>
                <a:latin typeface="Avenir Next"/>
              </a:rPr>
              <a:t> Core, Data, Input, Memory, Compress, Game.Physics2D, Game.UI</a:t>
            </a:r>
            <a:r>
              <a:rPr sz="1400" b="0">
                <a:solidFill>
                  <a:srgbClr val="8B949E"/>
                </a:solidFill>
                <a:latin typeface="Avenir Next"/>
              </a:rPr>
              <a:t>  —  graphics, 3D, audio, networking, crypto, threading, localization, and more.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BY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What “from scratch” really means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Every layer is in-tree. A sense of the scale: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4476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Avenir Next"/>
              </a:rPr>
              <a:t>Pre-Alpha, under active development</a:t>
            </a:r>
            <a:r>
              <a:rPr sz="1450" b="0">
                <a:solidFill>
                  <a:srgbClr val="8B949E"/>
                </a:solidFill>
                <a:latin typeface="Avenir Next"/>
              </a:rPr>
              <a:t> — measures of scope, not maturity.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13 / 17</a:t>
            </a:r>
          </a:p>
        </p:txBody>
      </p:sp>
      <p:sp>
        <p:nvSpPr>
          <p:cNvPr id="60" name="Stat 60"/>
          <p:cNvSpPr/>
          <p:nvPr/>
        </p:nvSpPr>
        <p:spPr>
          <a:xfrm>
            <a:off x="640080" y="300000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46304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3FB950"/>
                </a:solidFill>
                <a:latin typeface="Avenir Next"/>
              </a:rPr>
              <a:t>~700K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lines of code</a:t>
            </a:r>
          </a:p>
        </p:txBody>
      </p:sp>
      <p:sp>
        <p:nvSpPr>
          <p:cNvPr id="61" name="Stat 61"/>
          <p:cNvSpPr/>
          <p:nvPr/>
        </p:nvSpPr>
        <p:spPr>
          <a:xfrm>
            <a:off x="3417570" y="300000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46304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3FB950"/>
                </a:solidFill>
                <a:latin typeface="Avenir Next"/>
              </a:rPr>
              <a:t>1,700+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tests</a:t>
            </a:r>
          </a:p>
        </p:txBody>
      </p:sp>
      <p:sp>
        <p:nvSpPr>
          <p:cNvPr id="62" name="Stat 62"/>
          <p:cNvSpPr/>
          <p:nvPr/>
        </p:nvSpPr>
        <p:spPr>
          <a:xfrm>
            <a:off x="6195060" y="300000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46304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3FB950"/>
                </a:solidFill>
                <a:latin typeface="Avenir Next"/>
              </a:rPr>
              <a:t>436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runtime classes</a:t>
            </a:r>
          </a:p>
        </p:txBody>
      </p:sp>
      <p:sp>
        <p:nvSpPr>
          <p:cNvPr id="63" name="Stat 63"/>
          <p:cNvSpPr/>
          <p:nvPr/>
        </p:nvSpPr>
        <p:spPr>
          <a:xfrm>
            <a:off x="8972550" y="3000000"/>
            <a:ext cx="2576322" cy="1463040"/>
          </a:xfrm>
          <a:prstGeom prst="roundRect">
            <a:avLst>
              <a:gd name="adj" fmla="val 687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28016" rIns="146304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3FB950"/>
                </a:solidFill>
                <a:latin typeface="Avenir Next"/>
              </a:rPr>
              <a:t>23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49E"/>
                </a:solidFill>
                <a:latin typeface="Avenir Next"/>
              </a:rPr>
              <a:t>apps &amp; games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BUILT WITH VIPER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Larger demos, all in pure Zia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49E"/>
                </a:solidFill>
                <a:latin typeface="Avenir Next"/>
              </a:rPr>
              <a:t>All open source in the repo — running on the same toolchain.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XENOSCAPE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~21K LOC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Metroidvania-style demo — bosses, abilities, saves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757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ViperSQL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~85K LOC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Experimental SQL database engine + client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Chess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Alpha-beta AI, drag-and-drop 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2550" y="2468880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3D Bowling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Physics-driven, multi-mode camera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Game3D Showcase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Terrain · water · PBR · post-FX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Crackman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Maze chase with ghost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Paint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Layers, undo/redo, full tool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72550" y="4169664"/>
            <a:ext cx="2576322" cy="1481328"/>
          </a:xfrm>
          <a:prstGeom prst="roundRect">
            <a:avLst>
              <a:gd name="adj" fmla="val 8024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146304" rIns="146304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EDF3"/>
                </a:solidFill>
                <a:latin typeface="Avenir Next"/>
              </a:rPr>
              <a:t>+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23 total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49E"/>
                </a:solidFill>
                <a:latin typeface="Avenir Next"/>
              </a:rPr>
              <a:t>6 apps · 17 games/demos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447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DF3"/>
                </a:solidFill>
                <a:latin typeface="Avenir Next"/>
              </a:rPr>
              <a:t>Same compiler, VM, and runtime</a:t>
            </a:r>
            <a:r>
              <a:rPr sz="1450" b="0">
                <a:solidFill>
                  <a:srgbClr val="8B949E"/>
                </a:solidFill>
                <a:latin typeface="Avenir Next"/>
              </a:rPr>
              <a:t> — demos build through the native toolchain for the supported desktop platforms.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15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TOOLING &amp; GETTING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9611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From source to native binary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46504"/>
            <a:ext cx="5989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B949E"/>
                </a:solidFill>
                <a:latin typeface="Avenir Next"/>
              </a:rPr>
              <a:t>Build from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5989320" cy="2240280"/>
          </a:xfrm>
          <a:prstGeom prst="roundRect">
            <a:avLst>
              <a:gd name="adj" fmla="val 4081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D2A8FF"/>
                </a:solidFill>
                <a:latin typeface="Menlo"/>
              </a:rPr>
              <a:t>git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D2A8FF"/>
                </a:solidFill>
                <a:latin typeface="Menlo"/>
              </a:rPr>
              <a:t>clone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A5D6FF"/>
                </a:solidFill>
                <a:latin typeface="Menlo"/>
              </a:rPr>
              <a:t>https://github.com/splanck/viper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D2A8FF"/>
                </a:solidFill>
                <a:latin typeface="Menlo"/>
              </a:rPr>
              <a:t>cd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D2A8FF"/>
                </a:solidFill>
                <a:latin typeface="Menlo"/>
              </a:rPr>
              <a:t>viper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A5D6FF"/>
                </a:solidFill>
                <a:latin typeface="Menlo"/>
              </a:rPr>
              <a:t>./scripts/build_viper_linux.sh</a:t>
            </a:r>
            <a:r>
              <a:rPr sz="1200" b="0">
                <a:solidFill>
                  <a:srgbClr val="E6EDF3"/>
                </a:solidFill>
                <a:latin typeface="Menlo"/>
              </a:rPr>
              <a:t>    </a:t>
            </a:r>
            <a:r>
              <a:rPr sz="1200" b="0">
                <a:solidFill>
                  <a:srgbClr val="6E966E"/>
                </a:solidFill>
                <a:latin typeface="Menlo"/>
              </a:rPr>
              <a:t># build the toolchain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A5D6FF"/>
                </a:solidFill>
                <a:latin typeface="Menlo"/>
              </a:rPr>
              <a:t>./scripts/build_demos_linux.sh</a:t>
            </a:r>
            <a:r>
              <a:rPr sz="1200" b="0">
                <a:solidFill>
                  <a:srgbClr val="E6EDF3"/>
                </a:solidFill>
                <a:latin typeface="Menlo"/>
              </a:rPr>
              <a:t>    </a:t>
            </a:r>
            <a:r>
              <a:rPr sz="1200" b="0">
                <a:solidFill>
                  <a:srgbClr val="6E966E"/>
                </a:solidFill>
                <a:latin typeface="Menlo"/>
              </a:rPr>
              <a:t># build the demos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D2A8FF"/>
                </a:solidFill>
                <a:latin typeface="Menlo"/>
              </a:rPr>
              <a:t>viper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D2A8FF"/>
                </a:solidFill>
                <a:latin typeface="Menlo"/>
              </a:rPr>
              <a:t>init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E6EDF3"/>
                </a:solidFill>
                <a:latin typeface="Menlo"/>
              </a:rPr>
              <a:t>my-app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D2A8FF"/>
                </a:solidFill>
                <a:latin typeface="Menlo"/>
              </a:rPr>
              <a:t>viper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D2A8FF"/>
                </a:solidFill>
                <a:latin typeface="Menlo"/>
              </a:rPr>
              <a:t>run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E6EDF3"/>
                </a:solidFill>
                <a:latin typeface="Menlo"/>
              </a:rPr>
              <a:t>my-app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D2A8FF"/>
                </a:solidFill>
                <a:latin typeface="Menlo"/>
              </a:rPr>
              <a:t>viper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D2A8FF"/>
                </a:solidFill>
                <a:latin typeface="Menlo"/>
              </a:rPr>
              <a:t>repl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D2A8FF"/>
                </a:solidFill>
                <a:latin typeface="Menlo"/>
              </a:rPr>
              <a:t>viper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D2A8FF"/>
                </a:solidFill>
                <a:latin typeface="Menlo"/>
              </a:rPr>
              <a:t>build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E6EDF3"/>
                </a:solidFill>
                <a:latin typeface="Menlo"/>
              </a:rPr>
              <a:t>my-app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79C0FF"/>
                </a:solidFill>
                <a:latin typeface="Menlo"/>
              </a:rPr>
              <a:t>-o</a:t>
            </a:r>
            <a:r>
              <a:rPr sz="1200" b="0">
                <a:solidFill>
                  <a:srgbClr val="E6EDF3"/>
                </a:solidFill>
                <a:latin typeface="Menlo"/>
              </a:rPr>
              <a:t> </a:t>
            </a:r>
            <a:r>
              <a:rPr sz="1200" b="0">
                <a:solidFill>
                  <a:srgbClr val="E6EDF3"/>
                </a:solidFill>
                <a:latin typeface="Menlo"/>
              </a:rPr>
              <a:t>my-app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370832"/>
            <a:ext cx="5943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8B949E"/>
                </a:solidFill>
                <a:latin typeface="Avenir Next"/>
              </a:rPr>
              <a:t>Requirements:  </a:t>
            </a:r>
            <a:r>
              <a:rPr sz="1250" b="0">
                <a:solidFill>
                  <a:srgbClr val="8B949E"/>
                </a:solidFill>
                <a:latin typeface="Avenir Next"/>
              </a:rPr>
              <a:t>supported OS · C++ compiler · CMake · make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057400"/>
            <a:ext cx="4690872" cy="3794760"/>
          </a:xfrm>
          <a:prstGeom prst="roundRect">
            <a:avLst>
              <a:gd name="adj" fmla="val 3132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56032" tIns="219456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E6EDF3"/>
                </a:solidFill>
                <a:latin typeface="Avenir Next"/>
              </a:rPr>
              <a:t>In the 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D2A8FF"/>
                </a:solidFill>
                <a:latin typeface="Menlo"/>
              </a:rPr>
              <a:t>viper</a:t>
            </a:r>
            <a:r>
              <a:rPr sz="1350" b="0">
                <a:solidFill>
                  <a:srgbClr val="E6EDF3"/>
                </a:solidFill>
                <a:latin typeface="Menlo"/>
              </a:rPr>
              <a:t>  </a:t>
            </a:r>
            <a:r>
              <a:rPr sz="1350" b="0">
                <a:solidFill>
                  <a:srgbClr val="E6EDF3"/>
                </a:solidFill>
                <a:latin typeface="Menlo"/>
              </a:rPr>
              <a:t>unified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driver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—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A5D6FF"/>
                </a:solidFill>
                <a:latin typeface="Menlo"/>
              </a:rPr>
              <a:t>run/build/package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D2A8FF"/>
                </a:solidFill>
                <a:latin typeface="Menlo"/>
              </a:rPr>
              <a:t>repl</a:t>
            </a:r>
            <a:r>
              <a:rPr sz="1350" b="0">
                <a:solidFill>
                  <a:srgbClr val="E6EDF3"/>
                </a:solidFill>
                <a:latin typeface="Menlo"/>
              </a:rPr>
              <a:t>  </a:t>
            </a:r>
            <a:r>
              <a:rPr sz="1350" b="0">
                <a:solidFill>
                  <a:srgbClr val="E6EDF3"/>
                </a:solidFill>
                <a:latin typeface="Menlo"/>
              </a:rPr>
              <a:t>live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Zia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&amp;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BASIC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evaluation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D2A8FF"/>
                </a:solidFill>
                <a:latin typeface="Menlo"/>
              </a:rPr>
              <a:t>viper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D2A8FF"/>
                </a:solidFill>
                <a:latin typeface="Menlo"/>
              </a:rPr>
              <a:t>il-opt</a:t>
            </a:r>
            <a:r>
              <a:rPr sz="1350" b="0">
                <a:solidFill>
                  <a:srgbClr val="E6EDF3"/>
                </a:solidFill>
                <a:latin typeface="Menlo"/>
              </a:rPr>
              <a:t>  </a:t>
            </a:r>
            <a:r>
              <a:rPr sz="1350" b="0">
                <a:solidFill>
                  <a:srgbClr val="E6EDF3"/>
                </a:solidFill>
                <a:latin typeface="Menlo"/>
              </a:rPr>
              <a:t>optimize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IL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(24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passes)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il-verify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·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il-dis</a:t>
            </a:r>
            <a:r>
              <a:rPr sz="1350" b="0">
                <a:solidFill>
                  <a:srgbClr val="E6EDF3"/>
                </a:solidFill>
                <a:latin typeface="Menlo"/>
              </a:rPr>
              <a:t>  </a:t>
            </a:r>
            <a:r>
              <a:rPr sz="1350" b="0">
                <a:solidFill>
                  <a:srgbClr val="E6EDF3"/>
                </a:solidFill>
                <a:latin typeface="Menlo"/>
              </a:rPr>
              <a:t>verify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&amp;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disassemble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zia-server</a:t>
            </a:r>
            <a:r>
              <a:rPr sz="1350" b="0">
                <a:solidFill>
                  <a:srgbClr val="E6EDF3"/>
                </a:solidFill>
                <a:latin typeface="Menlo"/>
              </a:rPr>
              <a:t>  </a:t>
            </a:r>
            <a:r>
              <a:rPr sz="1350" b="0">
                <a:solidFill>
                  <a:srgbClr val="E6EDF3"/>
                </a:solidFill>
                <a:latin typeface="Menlo"/>
              </a:rPr>
              <a:t>LSP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+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MCP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language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server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>
                <a:solidFill>
                  <a:srgbClr val="E6EDF3"/>
                </a:solidFill>
                <a:latin typeface="Menlo"/>
              </a:rPr>
              <a:t>package</a:t>
            </a:r>
            <a:r>
              <a:rPr sz="1350" b="0">
                <a:solidFill>
                  <a:srgbClr val="E6EDF3"/>
                </a:solidFill>
                <a:latin typeface="Menlo"/>
              </a:rPr>
              <a:t>  </a:t>
            </a:r>
            <a:r>
              <a:rPr sz="1350" b="0">
                <a:solidFill>
                  <a:srgbClr val="E6EDF3"/>
                </a:solidFill>
                <a:latin typeface="Menlo"/>
              </a:rPr>
              <a:t>installers: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.app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·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.deb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·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.exe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·</a:t>
            </a:r>
            <a:r>
              <a:rPr sz="1350" b="0">
                <a:solidFill>
                  <a:srgbClr val="E6EDF3"/>
                </a:solidFill>
                <a:latin typeface="Menlo"/>
              </a:rPr>
              <a:t> </a:t>
            </a:r>
            <a:r>
              <a:rPr sz="1350" b="0">
                <a:solidFill>
                  <a:srgbClr val="E6EDF3"/>
                </a:solidFill>
                <a:latin typeface="Menlo"/>
              </a:rPr>
              <a:t>.tar.gz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8A6FF"/>
                </a:solidFill>
                <a:latin typeface="Avenir Next"/>
              </a:rPr>
              <a:t>github.com/splanck/viper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    —     clone it, run the demos, and tell me what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16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100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FRONTENDS</a:t>
            </a:r>
          </a:p>
        </p:txBody>
      </p:sp>
      <p:sp>
        <p:nvSpPr>
          <p:cNvPr id="301" name="Rectangle underline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1"/>
          <p:cNvSpPr txBox="1"/>
          <p:nvPr/>
        </p:nvSpPr>
        <p:spPr>
          <a:xfrm>
            <a:off x="640080" y="896112"/>
            <a:ext cx="10881360" cy="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Same program, two languages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658368" y="1563623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FB950"/>
                </a:solidFill>
                <a:latin typeface="Avenir Next"/>
              </a:rPr>
              <a:t>Zia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6510527" y="1563623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8A6FF"/>
                </a:solidFill>
                <a:latin typeface="Avenir Next"/>
              </a:rPr>
              <a:t>Viper BASIC</a:t>
            </a:r>
          </a:p>
        </p:txBody>
      </p:sp>
      <p:sp>
        <p:nvSpPr>
          <p:cNvPr id="200" name="Rounded Rectangle 200"/>
          <p:cNvSpPr/>
          <p:nvPr/>
        </p:nvSpPr>
        <p:spPr>
          <a:xfrm>
            <a:off x="640080" y="1874519"/>
            <a:ext cx="5074920" cy="3340480"/>
          </a:xfrm>
          <a:prstGeom prst="roundRect">
            <a:avLst>
              <a:gd name="adj" fmla="val 238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module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Area</a:t>
            </a:r>
            <a:r>
              <a:rPr sz="130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bind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3FB950"/>
                </a:solidFill>
                <a:latin typeface="Menlo"/>
              </a:rPr>
              <a:t>Viper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as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0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bind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3FB950"/>
                </a:solidFill>
                <a:latin typeface="Menlo"/>
              </a:rPr>
              <a:t>Viper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3FB950"/>
                </a:solidFill>
                <a:latin typeface="Menlo"/>
              </a:rPr>
              <a:t>Text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3FB950"/>
                </a:solidFill>
                <a:latin typeface="Menlo"/>
              </a:rPr>
              <a:t>Fmt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as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3FB950"/>
                </a:solidFill>
                <a:latin typeface="Menlo"/>
              </a:rPr>
              <a:t>Fmt</a:t>
            </a:r>
            <a:r>
              <a:rPr sz="130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func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start</a:t>
            </a:r>
            <a:r>
              <a:rPr sz="1300" b="0">
                <a:solidFill>
                  <a:srgbClr val="E6EDF3"/>
                </a:solidFill>
                <a:latin typeface="Menlo"/>
              </a:rPr>
              <a:t>()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   </a:t>
            </a:r>
            <a:r>
              <a:rPr sz="1300" b="0">
                <a:solidFill>
                  <a:srgbClr val="FF7B72"/>
                </a:solidFill>
                <a:latin typeface="Menlo"/>
              </a:rPr>
              <a:t>var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w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=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79C0FF"/>
                </a:solidFill>
                <a:latin typeface="Menlo"/>
              </a:rPr>
              <a:t>4</a:t>
            </a:r>
            <a:r>
              <a:rPr sz="130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   </a:t>
            </a:r>
            <a:r>
              <a:rPr sz="1300" b="0">
                <a:solidFill>
                  <a:srgbClr val="FF7B72"/>
                </a:solidFill>
                <a:latin typeface="Menlo"/>
              </a:rPr>
              <a:t>var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h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=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79C0FF"/>
                </a:solidFill>
                <a:latin typeface="Menlo"/>
              </a:rPr>
              <a:t>3</a:t>
            </a:r>
            <a:r>
              <a:rPr sz="130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   </a:t>
            </a:r>
            <a:r>
              <a:rPr sz="1300" b="0">
                <a:solidFill>
                  <a:srgbClr val="FF7B72"/>
                </a:solidFill>
                <a:latin typeface="Menlo"/>
              </a:rPr>
              <a:t>var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area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=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w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*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h</a:t>
            </a:r>
            <a:r>
              <a:rPr sz="1300" b="0">
                <a:solidFill>
                  <a:srgbClr val="E6EDF3"/>
                </a:solidFill>
                <a:latin typeface="Menlo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   </a:t>
            </a:r>
            <a:r>
              <a:rPr sz="130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D2A8FF"/>
                </a:solidFill>
                <a:latin typeface="Menlo"/>
              </a:rPr>
              <a:t>Say</a:t>
            </a:r>
            <a:r>
              <a:rPr sz="1300" b="0">
                <a:solidFill>
                  <a:srgbClr val="E6EDF3"/>
                </a:solidFill>
                <a:latin typeface="Menlo"/>
              </a:rPr>
              <a:t>(</a:t>
            </a:r>
            <a:r>
              <a:rPr sz="1300" b="0">
                <a:solidFill>
                  <a:srgbClr val="A5D6FF"/>
                </a:solidFill>
                <a:latin typeface="Menlo"/>
              </a:rPr>
              <a:t>"Area = "</a:t>
            </a:r>
            <a:r>
              <a:rPr sz="1300" b="0">
                <a:solidFill>
                  <a:srgbClr val="E6EDF3"/>
                </a:solidFill>
                <a:latin typeface="Menlo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   </a:t>
            </a:r>
            <a:r>
              <a:rPr sz="1300" b="0">
                <a:solidFill>
                  <a:srgbClr val="3FB950"/>
                </a:solidFill>
                <a:latin typeface="Menlo"/>
              </a:rPr>
              <a:t>Terminal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D2A8FF"/>
                </a:solidFill>
                <a:latin typeface="Menlo"/>
              </a:rPr>
              <a:t>Say</a:t>
            </a:r>
            <a:r>
              <a:rPr sz="1300" b="0">
                <a:solidFill>
                  <a:srgbClr val="E6EDF3"/>
                </a:solidFill>
                <a:latin typeface="Menlo"/>
              </a:rPr>
              <a:t>(</a:t>
            </a:r>
            <a:r>
              <a:rPr sz="1300" b="0">
                <a:solidFill>
                  <a:srgbClr val="3FB950"/>
                </a:solidFill>
                <a:latin typeface="Menlo"/>
              </a:rPr>
              <a:t>Fmt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D2A8FF"/>
                </a:solidFill>
                <a:latin typeface="Menlo"/>
              </a:rPr>
              <a:t>Int</a:t>
            </a:r>
            <a:r>
              <a:rPr sz="1300" b="0">
                <a:solidFill>
                  <a:srgbClr val="E6EDF3"/>
                </a:solidFill>
                <a:latin typeface="Menlo"/>
              </a:rPr>
              <a:t>(</a:t>
            </a:r>
            <a:r>
              <a:rPr sz="1300" b="0">
                <a:solidFill>
                  <a:srgbClr val="E6EDF3"/>
                </a:solidFill>
                <a:latin typeface="Menlo"/>
              </a:rPr>
              <a:t>area</a:t>
            </a:r>
            <a:r>
              <a:rPr sz="1300" b="0">
                <a:solidFill>
                  <a:srgbClr val="E6EDF3"/>
                </a:solidFill>
                <a:latin typeface="Menlo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}</a:t>
            </a:r>
          </a:p>
        </p:txBody>
      </p:sp>
      <p:sp>
        <p:nvSpPr>
          <p:cNvPr id="201" name="Rounded Rectangle 201"/>
          <p:cNvSpPr/>
          <p:nvPr/>
        </p:nvSpPr>
        <p:spPr>
          <a:xfrm>
            <a:off x="6492240" y="1874519"/>
            <a:ext cx="5074920" cy="3340480"/>
          </a:xfrm>
          <a:prstGeom prst="roundRect">
            <a:avLst>
              <a:gd name="adj" fmla="val 238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28016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6E966E"/>
                </a:solidFill>
                <a:latin typeface="Menlo"/>
              </a:rPr>
              <a:t>REM Area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USING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3FB950"/>
                </a:solidFill>
                <a:latin typeface="Menlo"/>
              </a:rPr>
              <a:t>Viper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3FB950"/>
                </a:solidFill>
                <a:latin typeface="Menlo"/>
              </a:rPr>
              <a:t>Text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LET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W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=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79C0FF"/>
                </a:solidFill>
                <a:latin typeface="Menlo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LET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H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=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79C0FF"/>
                </a:solidFill>
                <a:latin typeface="Menlo"/>
              </a:rPr>
              <a:t>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LET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AREA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=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W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FF7B72"/>
                </a:solidFill>
                <a:latin typeface="Menlo"/>
              </a:rPr>
              <a:t>*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E6EDF3"/>
                </a:solidFill>
                <a:latin typeface="Menlo"/>
              </a:rPr>
              <a:t>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PRINT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A5D6FF"/>
                </a:solidFill>
                <a:latin typeface="Menlo"/>
              </a:rPr>
              <a:t>"Area = 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FF7B72"/>
                </a:solidFill>
                <a:latin typeface="Menlo"/>
              </a:rPr>
              <a:t>PRINT</a:t>
            </a:r>
            <a:r>
              <a:rPr sz="1300" b="0">
                <a:solidFill>
                  <a:srgbClr val="E6EDF3"/>
                </a:solidFill>
                <a:latin typeface="Menlo"/>
              </a:rPr>
              <a:t> </a:t>
            </a:r>
            <a:r>
              <a:rPr sz="1300" b="0">
                <a:solidFill>
                  <a:srgbClr val="3FB950"/>
                </a:solidFill>
                <a:latin typeface="Menlo"/>
              </a:rPr>
              <a:t>Fmt</a:t>
            </a:r>
            <a:r>
              <a:rPr sz="1300" b="0">
                <a:solidFill>
                  <a:srgbClr val="E6EDF3"/>
                </a:solidFill>
                <a:latin typeface="Menlo"/>
              </a:rPr>
              <a:t>.</a:t>
            </a:r>
            <a:r>
              <a:rPr sz="1300" b="0">
                <a:solidFill>
                  <a:srgbClr val="D2A8FF"/>
                </a:solidFill>
                <a:latin typeface="Menlo"/>
              </a:rPr>
              <a:t>Int</a:t>
            </a:r>
            <a:r>
              <a:rPr sz="1300" b="0">
                <a:solidFill>
                  <a:srgbClr val="E6EDF3"/>
                </a:solidFill>
                <a:latin typeface="Menlo"/>
              </a:rPr>
              <a:t>(</a:t>
            </a:r>
            <a:r>
              <a:rPr sz="1300" b="0">
                <a:solidFill>
                  <a:srgbClr val="E6EDF3"/>
                </a:solidFill>
                <a:latin typeface="Menlo"/>
              </a:rPr>
              <a:t>AREA</a:t>
            </a:r>
            <a:r>
              <a:rPr sz="1300" b="0">
                <a:solidFill>
                  <a:srgbClr val="E6EDF3"/>
                </a:solidFill>
                <a:latin typeface="Menlo"/>
              </a:rPr>
              <a:t>)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5808600" y="3180000"/>
            <a:ext cx="600000" cy="6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3FB950"/>
                </a:solidFill>
                <a:latin typeface="Avenir Next"/>
              </a:rPr>
              <a:t>=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640080" y="53600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FB950"/>
                </a:solidFill>
                <a:latin typeface="Avenir Next"/>
              </a:rPr>
              <a:t>Same runtime, either way</a:t>
            </a:r>
            <a:r>
              <a:rPr sz="1500" b="0">
                <a:solidFill>
                  <a:srgbClr val="8B949E"/>
                </a:solidFill>
                <a:latin typeface="Avenir Next"/>
              </a:rPr>
              <a:t> — both frontends call the very same Viper.Text.Fmt and terminal classes. Only the syntax differs.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07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ge Bar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10"/>
          <p:cNvSpPr txBox="1"/>
          <p:nvPr/>
        </p:nvSpPr>
        <p:spPr>
          <a:xfrm>
            <a:off x="868680" y="1950000"/>
            <a:ext cx="10515600" cy="6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  <a:latin typeface="Avenir Next"/>
              </a:rPr>
              <a:t>THE ORIGIN STORY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68680" y="2400000"/>
            <a:ext cx="10515600" cy="19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5400" b="1">
                <a:solidFill>
                  <a:srgbClr val="E6EDF3"/>
                </a:solidFill>
                <a:latin typeface="Avenir Next"/>
              </a:rPr>
              <a:t>Where did Viper come from?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68680" y="4450000"/>
            <a:ext cx="9500000" cy="9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8B949E"/>
                </a:solidFill>
                <a:latin typeface="Avenir Next"/>
              </a:rPr>
              <a:t>How a weekend compiler experiment quietly turned into an entire stack.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ge Bar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10"/>
          <p:cNvSpPr txBox="1"/>
          <p:nvPr/>
        </p:nvSpPr>
        <p:spPr>
          <a:xfrm>
            <a:off x="868680" y="2300000"/>
            <a:ext cx="10515600" cy="6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FB950"/>
                </a:solidFill>
                <a:latin typeface="Avenir Next"/>
              </a:rPr>
              <a:t>ENOUGH ARCHITECTURE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68680" y="2750000"/>
            <a:ext cx="10515600" cy="15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6000" b="1">
                <a:solidFill>
                  <a:srgbClr val="E6EDF3"/>
                </a:solidFill>
                <a:latin typeface="Avenir Next"/>
              </a:rPr>
              <a:t>Let's look at the demos.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68680" y="4300000"/>
            <a:ext cx="9500000" cy="9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8B949E"/>
                </a:solidFill>
                <a:latin typeface="Avenir Next"/>
              </a:rPr>
              <a:t>Games and apps built entirely in Zia, running on the toolchain we just walked through.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ge Bar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iperlog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737360" cy="173736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868680" y="3250000"/>
            <a:ext cx="10515600" cy="12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6000" b="1">
                <a:solidFill>
                  <a:srgbClr val="E6EDF3"/>
                </a:solidFill>
                <a:latin typeface="Avenir Next"/>
              </a:rPr>
              <a:t>Thanks for watching.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68680" y="4350000"/>
            <a:ext cx="9800000" cy="9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8B949E"/>
                </a:solidFill>
                <a:latin typeface="Avenir Next"/>
              </a:rPr>
              <a:t>Viper is open source and pre-alpha. Clone it, run the demos, and tell me what breaks.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6868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8A6FF"/>
                </a:solidFill>
                <a:latin typeface="Avenir Next"/>
              </a:rPr>
              <a:t>github.com/splanck/viper</a:t>
            </a:r>
            <a:r>
              <a:rPr sz="16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600" b="0">
                <a:solidFill>
                  <a:srgbClr val="8B949E"/>
                </a:solidFill>
                <a:latin typeface="Avenir Next"/>
              </a:rPr>
              <a:t>GPL-3.0</a:t>
            </a:r>
            <a:r>
              <a:rPr sz="1600" b="0">
                <a:solidFill>
                  <a:srgbClr val="30363D"/>
                </a:solidFill>
                <a:latin typeface="Avenir Next"/>
              </a:rPr>
              <a:t>    ·    </a:t>
            </a:r>
            <a:r>
              <a:rPr sz="1600" b="0">
                <a:solidFill>
                  <a:srgbClr val="8B949E"/>
                </a:solidFill>
                <a:latin typeface="Avenir Next"/>
              </a:rPr>
              <a:t>Linux · macOS · Windows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3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FB950"/>
                </a:solidFill>
                <a:latin typeface="Avenir Next"/>
              </a:rPr>
              <a:t>WHAT IS VIPER</a:t>
            </a:r>
          </a:p>
        </p:txBody>
      </p:sp>
      <p:sp>
        <p:nvSpPr>
          <p:cNvPr id="4" name="Rect 4"/>
          <p:cNvSpPr/>
          <p:nvPr/>
        </p:nvSpPr>
        <p:spPr>
          <a:xfrm>
            <a:off x="658368" y="786384"/>
            <a:ext cx="502920" cy="5029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5"/>
          <p:cNvSpPr txBox="1"/>
          <p:nvPr/>
        </p:nvSpPr>
        <p:spPr>
          <a:xfrm>
            <a:off x="640080" y="896112"/>
            <a:ext cx="10881360" cy="7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6EDF3"/>
                </a:solidFill>
                <a:latin typeface="Avenir Next"/>
              </a:rPr>
              <a:t>A platform for building games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40080" y="1750000"/>
            <a:ext cx="10300000" cy="15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E6EDF3"/>
                </a:solidFill>
                <a:latin typeface="Avenir Next"/>
              </a:rPr>
              <a:t>Viper is a </a:t>
            </a:r>
            <a:r>
              <a:rPr sz="2400" b="1">
                <a:solidFill>
                  <a:srgbClr val="3FB950"/>
                </a:solidFill>
                <a:latin typeface="Avenir Next"/>
              </a:rPr>
              <a:t>game development platform and runtime</a:t>
            </a:r>
            <a:r>
              <a:rPr sz="2400" b="0">
                <a:solidFill>
                  <a:srgbClr val="E6EDF3"/>
                </a:solidFill>
                <a:latin typeface="Avenir Next"/>
              </a:rPr>
              <a:t>. It is general purpose, but the whole stack is shaped first and foremost around </a:t>
            </a:r>
            <a:r>
              <a:rPr sz="2400" b="1">
                <a:solidFill>
                  <a:srgbClr val="58A6FF"/>
                </a:solidFill>
                <a:latin typeface="Avenir Next"/>
              </a:rPr>
              <a:t>PC game development</a:t>
            </a:r>
            <a:r>
              <a:rPr sz="2400" b="0">
                <a:solidFill>
                  <a:srgbClr val="E6EDF3"/>
                </a:solidFill>
                <a:latin typeface="Avenir Next"/>
              </a:rPr>
              <a:t>.</a:t>
            </a:r>
          </a:p>
        </p:txBody>
      </p:sp>
      <p:sp>
        <p:nvSpPr>
          <p:cNvPr id="10" name="Card 10"/>
          <p:cNvSpPr/>
          <p:nvPr/>
        </p:nvSpPr>
        <p:spPr>
          <a:xfrm>
            <a:off x="640080" y="3850000"/>
            <a:ext cx="3454298" cy="1750000"/>
          </a:xfrm>
          <a:prstGeom prst="roundRect">
            <a:avLst>
              <a:gd name="adj" fmla="val 420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1"/>
          <p:cNvSpPr txBox="1"/>
          <p:nvPr/>
        </p:nvSpPr>
        <p:spPr>
          <a:xfrm>
            <a:off x="868680" y="4170000"/>
            <a:ext cx="2997098" cy="12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3FB950"/>
                </a:solidFill>
                <a:latin typeface="Avenir Next"/>
              </a:rPr>
              <a:t>Games first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49E"/>
                </a:solidFill>
                <a:latin typeface="Avenir Next"/>
              </a:rPr>
              <a:t>Graphics, audio, input, 2D and 3D game systems are the core of the runtime.</a:t>
            </a:r>
          </a:p>
        </p:txBody>
      </p:sp>
      <p:sp>
        <p:nvSpPr>
          <p:cNvPr id="12" name="Card 12"/>
          <p:cNvSpPr/>
          <p:nvPr/>
        </p:nvSpPr>
        <p:spPr>
          <a:xfrm>
            <a:off x="4368698" y="3850000"/>
            <a:ext cx="3454298" cy="1750000"/>
          </a:xfrm>
          <a:prstGeom prst="roundRect">
            <a:avLst>
              <a:gd name="adj" fmla="val 420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3"/>
          <p:cNvSpPr txBox="1"/>
          <p:nvPr/>
        </p:nvSpPr>
        <p:spPr>
          <a:xfrm>
            <a:off x="4597298" y="4170000"/>
            <a:ext cx="2997098" cy="12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3FB950"/>
                </a:solidFill>
                <a:latin typeface="Avenir Next"/>
              </a:rPr>
              <a:t>General purpose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49E"/>
                </a:solidFill>
                <a:latin typeface="Avenir Next"/>
              </a:rPr>
              <a:t>The same compiler, languages, and runtime handle ordinary apps and tools too.</a:t>
            </a:r>
          </a:p>
        </p:txBody>
      </p:sp>
      <p:sp>
        <p:nvSpPr>
          <p:cNvPr id="14" name="Card 14"/>
          <p:cNvSpPr/>
          <p:nvPr/>
        </p:nvSpPr>
        <p:spPr>
          <a:xfrm>
            <a:off x="8097316" y="3850000"/>
            <a:ext cx="3454298" cy="1750000"/>
          </a:xfrm>
          <a:prstGeom prst="roundRect">
            <a:avLst>
              <a:gd name="adj" fmla="val 4200"/>
            </a:avLst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5"/>
          <p:cNvSpPr txBox="1"/>
          <p:nvPr/>
        </p:nvSpPr>
        <p:spPr>
          <a:xfrm>
            <a:off x="8325916" y="4170000"/>
            <a:ext cx="2997098" cy="12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3FB950"/>
                </a:solidFill>
                <a:latin typeface="Avenir Next"/>
              </a:rPr>
              <a:t>One whole stack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49E"/>
                </a:solidFill>
                <a:latin typeface="Avenir Next"/>
              </a:rPr>
              <a:t>Compiler, VM, native backends, and runtime are all part of Viper itself.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10637215" y="42062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49E"/>
                </a:solidFill>
                <a:latin typeface="Avenir Next"/>
              </a:rPr>
              <a:t>03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