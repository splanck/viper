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46" d="100"/>
          <a:sy n="146" d="100"/>
        </p:scale>
        <p:origin x="10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viper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73736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92608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An informal introduction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0" b="1">
                <a:solidFill>
                  <a:srgbClr val="E6EDF3"/>
                </a:solidFill>
                <a:latin typeface="Avenir Next"/>
              </a:rPr>
              <a:t>Viper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B949E"/>
                </a:solidFill>
                <a:latin typeface="Avenir Next"/>
              </a:rPr>
              <a:t>A from-scratch compiler, VM, runtime, and native toolchain for apps and games.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DF3"/>
                </a:solidFill>
                <a:latin typeface="Avenir Next"/>
              </a:rPr>
              <a:t>Pre-alpha / active development</a:t>
            </a:r>
            <a:r>
              <a:rPr sz="1400" b="0">
                <a:solidFill>
                  <a:srgbClr val="30363D"/>
                </a:solidFill>
                <a:latin typeface="Avenir Next"/>
              </a:rPr>
              <a:t>    ·    </a:t>
            </a:r>
            <a:r>
              <a:rPr sz="1400" b="0">
                <a:solidFill>
                  <a:srgbClr val="8B949E"/>
                </a:solidFill>
                <a:latin typeface="Avenir Next"/>
              </a:rPr>
              <a:t>GPL-3.0</a:t>
            </a:r>
            <a:r>
              <a:rPr sz="1400" b="0">
                <a:solidFill>
                  <a:srgbClr val="30363D"/>
                </a:solidFill>
                <a:latin typeface="Avenir Next"/>
              </a:rPr>
              <a:t>    ·    </a:t>
            </a:r>
            <a:r>
              <a:rPr sz="1400" b="0">
                <a:solidFill>
                  <a:srgbClr val="8B949E"/>
                </a:solidFill>
                <a:latin typeface="Avenir Next"/>
              </a:rPr>
              <a:t>Linux · macOS · Windows</a:t>
            </a:r>
            <a:r>
              <a:rPr sz="1400" b="0">
                <a:solidFill>
                  <a:srgbClr val="30363D"/>
                </a:solidFill>
                <a:latin typeface="Avenir Next"/>
              </a:rPr>
              <a:t>    ·    </a:t>
            </a:r>
            <a:r>
              <a:rPr sz="1400" b="0">
                <a:solidFill>
                  <a:srgbClr val="58A6FF"/>
                </a:solidFill>
                <a:latin typeface="Avenir Next"/>
              </a:rPr>
              <a:t>github.com/splanck/viper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THE CORE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One IL. Many languages. Native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126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2000" b="0">
                <a:solidFill>
                  <a:srgbClr val="E6EDF3"/>
                </a:solidFill>
                <a:latin typeface="Avenir Next"/>
              </a:rPr>
              <a:t>Programs in </a:t>
            </a:r>
            <a:r>
              <a:rPr sz="2000" b="1">
                <a:solidFill>
                  <a:srgbClr val="3FB950"/>
                </a:solidFill>
                <a:latin typeface="Avenir Next"/>
              </a:rPr>
              <a:t>Zia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or </a:t>
            </a:r>
            <a:r>
              <a:rPr sz="2000" b="1">
                <a:solidFill>
                  <a:srgbClr val="3FB950"/>
                </a:solidFill>
                <a:latin typeface="Avenir Next"/>
              </a:rPr>
              <a:t>BASIC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compile to </a:t>
            </a:r>
            <a:r>
              <a:rPr sz="2000" b="1">
                <a:solidFill>
                  <a:srgbClr val="58A6FF"/>
                </a:solidFill>
                <a:latin typeface="Avenir Next"/>
              </a:rPr>
              <a:t>Viper IL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— a typed, SSA-based intermediate language.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2000" b="0">
                <a:solidFill>
                  <a:srgbClr val="E6EDF3"/>
                </a:solidFill>
                <a:latin typeface="Avenir Next"/>
              </a:rPr>
              <a:t>The IL is the </a:t>
            </a:r>
            <a:r>
              <a:rPr sz="2000" b="1">
                <a:solidFill>
                  <a:srgbClr val="E6EDF3"/>
                </a:solidFill>
                <a:latin typeface="Avenir Next"/>
              </a:rPr>
              <a:t>“thin waist”</a:t>
            </a:r>
            <a:r>
              <a:rPr sz="2000" b="0">
                <a:solidFill>
                  <a:srgbClr val="E6EDF3"/>
                </a:solidFill>
                <a:latin typeface="Avenir Next"/>
              </a:rPr>
              <a:t>: frontends and backends plug into it independently.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2000" b="0">
                <a:solidFill>
                  <a:srgbClr val="E6EDF3"/>
                </a:solidFill>
                <a:latin typeface="Avenir Next"/>
              </a:rPr>
              <a:t>Run it on the </a:t>
            </a:r>
            <a:r>
              <a:rPr sz="2000" b="1">
                <a:solidFill>
                  <a:srgbClr val="58A6FF"/>
                </a:solidFill>
                <a:latin typeface="Avenir Next"/>
              </a:rPr>
              <a:t>VM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for fast iteration, or compile straight to </a:t>
            </a:r>
            <a:r>
              <a:rPr sz="2000" b="1">
                <a:solidFill>
                  <a:srgbClr val="58A6FF"/>
                </a:solidFill>
                <a:latin typeface="Avenir Next"/>
              </a:rPr>
              <a:t>native machine code</a:t>
            </a:r>
            <a:r>
              <a:rPr sz="2000" b="0">
                <a:solidFill>
                  <a:srgbClr val="E6EDF3"/>
                </a:solidFill>
                <a:latin typeface="Avenir Next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2000" b="0">
                <a:solidFill>
                  <a:srgbClr val="E6EDF3"/>
                </a:solidFill>
                <a:latin typeface="Avenir Next"/>
              </a:rPr>
              <a:t>Built </a:t>
            </a:r>
            <a:r>
              <a:rPr sz="2000" b="1">
                <a:solidFill>
                  <a:srgbClr val="E6EDF3"/>
                </a:solidFill>
                <a:latin typeface="Avenir Next"/>
              </a:rPr>
              <a:t>from scratch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— no SDL, Boost, LLVM, zlib, OpenSSL, or third-party runtime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965960"/>
            <a:ext cx="4343400" cy="749808"/>
          </a:xfrm>
          <a:prstGeom prst="roundRect">
            <a:avLst>
              <a:gd name="adj" fmla="val 15853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58A6FF"/>
                </a:solidFill>
                <a:latin typeface="Avenir Next"/>
              </a:rPr>
              <a:t>Zia  ·  BASIC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source languages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9221724" y="2779776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78040" y="3035808"/>
            <a:ext cx="4343400" cy="786384"/>
          </a:xfrm>
          <a:prstGeom prst="roundRect">
            <a:avLst>
              <a:gd name="adj" fmla="val 15116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3FB950"/>
                </a:solidFill>
                <a:latin typeface="Avenir Next"/>
              </a:rPr>
              <a:t>Viper 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typed SSA  ·  verify  ·  optimize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221724" y="3931920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78040" y="4224528"/>
            <a:ext cx="2103120" cy="786384"/>
          </a:xfrm>
          <a:prstGeom prst="roundRect">
            <a:avLst>
              <a:gd name="adj" fmla="val 15116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6EDF3"/>
                </a:solidFill>
                <a:latin typeface="Avenir Next"/>
              </a:rPr>
              <a:t>VM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Avenir Next"/>
              </a:rPr>
              <a:t>run &amp; debug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4224528"/>
            <a:ext cx="2103120" cy="786384"/>
          </a:xfrm>
          <a:prstGeom prst="roundRect">
            <a:avLst>
              <a:gd name="adj" fmla="val 15116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6EDF3"/>
                </a:solidFill>
                <a:latin typeface="Avenir Next"/>
              </a:rPr>
              <a:t>Native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Avenir Next"/>
              </a:rPr>
              <a:t>x86-64 · ARM64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221724" y="5120640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78040" y="5321808"/>
            <a:ext cx="4343400" cy="749808"/>
          </a:xfrm>
          <a:prstGeom prst="roundRect">
            <a:avLst>
              <a:gd name="adj" fmla="val 15853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58A6FF"/>
                </a:solidFill>
                <a:latin typeface="Avenir Next"/>
              </a:rPr>
              <a:t>Viper Runtime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one library, shared by 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FRONTENDS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Two languages, one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49240" cy="3383280"/>
          </a:xfrm>
          <a:prstGeom prst="roundRect">
            <a:avLst>
              <a:gd name="adj" fmla="val 3513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56032" bIns="18288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E6EDF3"/>
                </a:solidFill>
                <a:latin typeface="Avenir Next"/>
              </a:rPr>
              <a:t>Zia</a:t>
            </a:r>
            <a:r>
              <a:rPr sz="1400" b="0">
                <a:solidFill>
                  <a:srgbClr val="3FB950"/>
                </a:solidFill>
                <a:latin typeface="Avenir Next"/>
              </a:rPr>
              <a:t>   the flagship language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>
                <a:solidFill>
                  <a:srgbClr val="8B949E"/>
                </a:solidFill>
                <a:latin typeface="Avenir Next"/>
              </a:rPr>
              <a:t>Modern, statically typed — designed for real apps and games.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Classes, generics &amp; enums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Lambdas &amp; modules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Pattern matching &amp; exhaustiveness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Memory-safe user surface — no raw pointers in normal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103120"/>
            <a:ext cx="5349240" cy="3383280"/>
          </a:xfrm>
          <a:prstGeom prst="roundRect">
            <a:avLst>
              <a:gd name="adj" fmla="val 3513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56032" bIns="18288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E6EDF3"/>
                </a:solidFill>
                <a:latin typeface="Avenir Next"/>
              </a:rPr>
              <a:t>BASIC</a:t>
            </a:r>
            <a:r>
              <a:rPr sz="1400" b="0">
                <a:solidFill>
                  <a:srgbClr val="58A6FF"/>
                </a:solidFill>
                <a:latin typeface="Avenir Next"/>
              </a:rPr>
              <a:t>   the teaching / prototyping frontend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>
                <a:solidFill>
                  <a:srgbClr val="8B949E"/>
                </a:solidFill>
                <a:latin typeface="Avenir Next"/>
              </a:rPr>
              <a:t>A classic, approachable dialect for rapid prototyping.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Familiar LET / PRINT / IF / WHILE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Lexer + recursive-descent parser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Intrinsics lower to runtime calls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Great for learning the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Avenir Next"/>
              </a:rPr>
              <a:t>Both lower to the same Viper IL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— so they share the same optimizer, backends, and runtime library.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VIPER 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Typed, SSA-based, and inspectable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7510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949E"/>
                </a:solidFill>
                <a:latin typeface="Avenir Next"/>
              </a:rPr>
              <a:t>Zia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074920" cy="3108960"/>
          </a:xfrm>
          <a:prstGeom prst="roundRect">
            <a:avLst>
              <a:gd name="adj" fmla="val 2941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28016" rIns="109728" bIns="9144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bind Terminal = Viper.Terminal;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bind Fmt = Viper.Text.Fmt;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func start()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var x = 2 + 3;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var y = x * 2;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Terminal.Say("HELLO");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Terminal.Say(Fmt.Int(y));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70448" y="3648456"/>
            <a:ext cx="457200" cy="384048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7" y="197510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949E"/>
                </a:solidFill>
                <a:latin typeface="Avenir Next"/>
              </a:rPr>
              <a:t>Viper IL — unoptimized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286000"/>
            <a:ext cx="5074920" cy="3108960"/>
          </a:xfrm>
          <a:prstGeom prst="roundRect">
            <a:avLst>
              <a:gd name="adj" fmla="val 2941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28016" rIns="109728" bIns="9144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il 0.2.0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func @main() -&gt; void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entry_0: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%t0 = iadd.ovf 2,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%t1 = alloca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store i64, %t1, %t0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%t2 = load i64, %t1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%t3 = imul.ovf %t2,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call @Viper.Terminal.Say(%t5)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ret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Avenir Next"/>
              </a:rPr>
              <a:t>A verifier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enforces structural and type invariants, then a </a:t>
            </a:r>
            <a:r>
              <a:rPr sz="1500" b="1">
                <a:solidFill>
                  <a:srgbClr val="58A6FF"/>
                </a:solidFill>
                <a:latin typeface="Avenir Next"/>
              </a:rPr>
              <a:t>20+ pass optimizer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runs GVN, LICM, SCCP, inlining, loop opts, and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Two ways to run the same 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49240" cy="3611880"/>
          </a:xfrm>
          <a:prstGeom prst="roundRect">
            <a:avLst>
              <a:gd name="adj" fmla="val 3291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56032" bIns="18288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8A6FF"/>
                </a:solidFill>
                <a:latin typeface="Avenir Next"/>
              </a:rPr>
              <a:t>The VM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8B949E"/>
                </a:solidFill>
                <a:latin typeface="Avenir Next"/>
              </a:rPr>
              <a:t>Primary development &amp; debugging target.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Register-file bytecode interpreter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Switch · table · threaded-goto dispatch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Pooled frames &amp; cached string literals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Traps surface structured diagnostics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Execution tracing for debugging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103120"/>
            <a:ext cx="5349240" cy="3611880"/>
          </a:xfrm>
          <a:prstGeom prst="roundRect">
            <a:avLst>
              <a:gd name="adj" fmla="val 3291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46888" rIns="256032" bIns="18288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FB950"/>
                </a:solidFill>
                <a:latin typeface="Avenir Next"/>
              </a:rPr>
              <a:t>Native path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8B949E"/>
                </a:solidFill>
                <a:latin typeface="Avenir Next"/>
              </a:rPr>
              <a:t>Compile IL straight to machine code.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AArch64 — Apple Silicon, Windows ARM64, Linux ARM64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x86-64 — Windows and Linux (Win64 / SysV ABI)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Register coalescing, post-RA scheduling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1">
                <a:solidFill>
                  <a:srgbClr val="E6EDF3"/>
                </a:solidFill>
                <a:latin typeface="Avenir Next"/>
              </a:rPr>
              <a:t>Built-in assembler + linker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ELF · Mach-O · PE with debug info — self-contained output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Avenir Next"/>
              </a:rPr>
              <a:t>Differential testing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keeps them honest: VM and native outputs must match for every defined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THE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One standard library, every frontend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B949E"/>
                </a:solidFill>
                <a:latin typeface="Avenir Next"/>
              </a:rPr>
              <a:t>400+ classes across 22 modules — shared through a C ABI by both the VM and native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57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7570" y="2331720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53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331720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46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Graphics3D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2550" y="2331720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34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Game3D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82696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29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Collections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3282696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27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3282696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26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2550" y="3282696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23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Utilities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33672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22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7570" y="4233672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18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Threads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4233672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16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I/O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2550" y="4233672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12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Math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84648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10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Localization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7570" y="5184648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8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Crypto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5184648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8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Sound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550" y="5184648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5486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8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630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49E"/>
                </a:solidFill>
                <a:latin typeface="Avenir Next"/>
              </a:rPr>
              <a:t>Plus</a:t>
            </a:r>
            <a:r>
              <a:rPr sz="1400" b="0">
                <a:solidFill>
                  <a:srgbClr val="E6EDF3"/>
                </a:solidFill>
                <a:latin typeface="Avenir Next"/>
              </a:rPr>
              <a:t> Core, Data, Input, Memory, Compress, Game.Physics2D, Game.UI</a:t>
            </a:r>
            <a:r>
              <a:rPr sz="1400" b="0">
                <a:solidFill>
                  <a:srgbClr val="8B949E"/>
                </a:solidFill>
                <a:latin typeface="Avenir Next"/>
              </a:rPr>
              <a:t>  —  graphics, 3D, audio, networking, crypto, threading, localization, and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The end-to-end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5984" y="1589322"/>
            <a:ext cx="5120640" cy="749808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Source languages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Zia · BASIC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68288" y="2194560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35984" y="2414016"/>
            <a:ext cx="5120640" cy="749808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Frontend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lex · parse · sema · lower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68288" y="3236976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78784" y="3456432"/>
            <a:ext cx="6035040" cy="804672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2032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FB950"/>
                </a:solidFill>
                <a:latin typeface="Avenir Next"/>
              </a:rPr>
              <a:t>Viper 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typed SSA · verifier · 20+ pass optimizer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502152" y="4334256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8430767" y="4334256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54480" y="4553712"/>
            <a:ext cx="4160520" cy="859536"/>
          </a:xfrm>
          <a:prstGeom prst="roundRect">
            <a:avLst>
              <a:gd name="adj" fmla="val 11702"/>
            </a:avLst>
          </a:prstGeom>
          <a:solidFill>
            <a:srgbClr val="161B22"/>
          </a:solidFill>
          <a:ln w="2032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Bytecode VM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Avenir Next"/>
              </a:rPr>
              <a:t>switch · table · threaded dispatch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4553712"/>
            <a:ext cx="4160520" cy="859536"/>
          </a:xfrm>
          <a:prstGeom prst="roundRect">
            <a:avLst>
              <a:gd name="adj" fmla="val 11702"/>
            </a:avLst>
          </a:prstGeom>
          <a:solidFill>
            <a:srgbClr val="161B22"/>
          </a:solidFill>
          <a:ln w="2032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Native path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Avenir Next"/>
              </a:rPr>
              <a:t>AArch64 · x86-64 · assembler · linker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02152" y="5449824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8430767" y="5449824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078784" y="5687568"/>
            <a:ext cx="6035040" cy="749808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Viper Runtime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graphics · GUI · 3D · audio · net · crypto · game systems ·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TOOLING &amp; 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From source to native binary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46504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949E"/>
                </a:solidFill>
                <a:latin typeface="Avenir Next"/>
              </a:rPr>
              <a:t>Build from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989320" cy="2240280"/>
          </a:xfrm>
          <a:prstGeom prst="roundRect">
            <a:avLst>
              <a:gd name="adj" fmla="val 4081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28016" rIns="109728" bIns="9144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git clone https://github.com/splanck/viper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cd viper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./scripts/build_viper_linux.sh    </a:t>
            </a:r>
            <a:r>
              <a:rPr sz="1200" b="0">
                <a:solidFill>
                  <a:srgbClr val="6E966E"/>
                </a:solidFill>
                <a:latin typeface="Menlo"/>
              </a:rPr>
              <a:t># build the toolchain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./scripts/build_demos_linux.sh    </a:t>
            </a:r>
            <a:r>
              <a:rPr sz="1200" b="0">
                <a:solidFill>
                  <a:srgbClr val="6E966E"/>
                </a:solidFill>
                <a:latin typeface="Menlo"/>
              </a:rPr>
              <a:t># build the demos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viper init my-app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viper run my-app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viper repl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Menlo"/>
              </a:rPr>
              <a:t>viper build my-app -o my-app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70832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8B949E"/>
                </a:solidFill>
                <a:latin typeface="Avenir Next"/>
              </a:rPr>
              <a:t>Requirements:  </a:t>
            </a:r>
            <a:r>
              <a:rPr sz="1250" b="0">
                <a:solidFill>
                  <a:srgbClr val="8B949E"/>
                </a:solidFill>
                <a:latin typeface="Avenir Next"/>
              </a:rPr>
              <a:t>supported OS · C++ compiler · CMake · make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057400"/>
            <a:ext cx="4690872" cy="3794760"/>
          </a:xfrm>
          <a:prstGeom prst="roundRect">
            <a:avLst>
              <a:gd name="adj" fmla="val 3132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19456" rIns="256032" bIns="18288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Avenir Next"/>
              </a:rPr>
              <a:t>In the box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viper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unified driver — run/build/package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repl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live Zia &amp; BASIC evaluation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il-opt / il-verify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optimize &amp; check 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il-dis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disassembler / pretty-printer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zia-server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LSP/MCP language tooling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package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installers: .app · .deb · .exe · .tar.gz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81728"/>
            <a:ext cx="5989320" cy="1170432"/>
          </a:xfrm>
          <a:prstGeom prst="roundRect">
            <a:avLst>
              <a:gd name="adj" fmla="val 10156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56032" bIns="182880" rtlCol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Avenir Next"/>
              </a:rPr>
              <a:t>Built with Viper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E6EDF3"/>
                </a:solidFill>
                <a:latin typeface="Avenir Next"/>
              </a:rPr>
              <a:t>Chess  ·  XENOSCAPE  ·  3D Bowling  ·  Game3D Showcase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49E"/>
                </a:solidFill>
                <a:latin typeface="Avenir Next"/>
              </a:rPr>
              <a:t>ViperSQL  ·  Paint  ·  apps, games, tools, and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Avenir Next"/>
              </a:rPr>
              <a:t>github.com/splanck/viper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    —     clone it, run the demos, and tell me what breaks.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908</Words>
  <Application>Microsoft Macintosh PowerPoint</Application>
  <PresentationFormat>Widescreen</PresentationFormat>
  <Paragraphs>152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Next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Stephen Planck (JDA PARTNERS TECHNICAL SERVICE)</cp:lastModifiedBy>
  <cp:revision>2</cp:revision>
  <dcterms:created xsi:type="dcterms:W3CDTF">2013-01-27T09:14:16Z</dcterms:created>
  <dcterms:modified xsi:type="dcterms:W3CDTF">2026-06-14T08:34:27Z</dcterms:modified>
  <cp:category/>
</cp:coreProperties>
</file>