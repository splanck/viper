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per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9260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An informal introduction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600" b="1">
                <a:solidFill>
                  <a:srgbClr val="E6EDF3"/>
                </a:solidFill>
                <a:latin typeface="Avenir Next"/>
              </a:rPr>
              <a:t>Viper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8B949E"/>
                </a:solidFill>
                <a:latin typeface="Avenir Next"/>
              </a:rPr>
              <a:t>A from-scratch compiler, VM, runtime, and native toolchain for games and apps.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DF3"/>
                </a:solidFill>
                <a:latin typeface="Avenir Next"/>
              </a:rPr>
              <a:t>Pre-alpha / active development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8B949E"/>
                </a:solidFill>
                <a:latin typeface="Avenir Next"/>
              </a:rPr>
              <a:t>GPL-3.0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8B949E"/>
                </a:solidFill>
                <a:latin typeface="Avenir Next"/>
              </a:rPr>
              <a:t>Linux · macOS · Windows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58A6FF"/>
                </a:solidFill>
                <a:latin typeface="Avenir Next"/>
              </a:rPr>
              <a:t>github.com/splanck/viper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WHY VIPER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The IL is the protagonist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One typed, SSA-based intermediate language sits at the center of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6EDF3"/>
                </a:solidFill>
                <a:latin typeface="Avenir Next"/>
              </a:rPr>
              <a:t>Most toolchains bolt a language onto someone else's stack. Viper inverts that: a small, </a:t>
            </a:r>
            <a:r>
              <a:rPr sz="2000" b="1">
                <a:solidFill>
                  <a:srgbClr val="3FB950"/>
                </a:solidFill>
                <a:latin typeface="Avenir Next"/>
              </a:rPr>
              <a:t>typed, verifiable IL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is the contract. Every language compiles to it, every backend consumes it, and one runtime serves them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2639" y="4023360"/>
            <a:ext cx="3017520" cy="1097280"/>
          </a:xfrm>
          <a:prstGeom prst="roundRect">
            <a:avLst>
              <a:gd name="adj" fmla="val 10833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Zia · BASIC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languages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0159" y="4407408"/>
            <a:ext cx="566928" cy="329184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87087" y="402336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A0E14"/>
                </a:solidFill>
                <a:latin typeface="Avenir Next"/>
              </a:rPr>
              <a:t>Viper IL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A0E14"/>
                </a:solidFill>
                <a:latin typeface="Avenir Next"/>
              </a:rPr>
              <a:t>typed SSA · verified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04607" y="4407408"/>
            <a:ext cx="566928" cy="329184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71535" y="4023360"/>
            <a:ext cx="3017520" cy="1097280"/>
          </a:xfrm>
          <a:prstGeom prst="roundRect">
            <a:avLst>
              <a:gd name="adj" fmla="val 10833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VM · Native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run or 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31536"/>
            <a:ext cx="10881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49E"/>
                </a:solidFill>
                <a:latin typeface="Avenir Next"/>
              </a:rPr>
              <a:t>Frontends and backends are interchangeable — the IL is the one thing they all agree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THE CORE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One IL. Many languages. Native everywhere.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6263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200"/>
              </a:spcAft>
            </a:pPr>
            <a:r>
              <a:rPr sz="21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100" b="0">
                <a:solidFill>
                  <a:srgbClr val="E6EDF3"/>
                </a:solidFill>
                <a:latin typeface="Avenir Next"/>
              </a:rPr>
              <a:t>Programs in </a:t>
            </a:r>
            <a:r>
              <a:rPr sz="2100" b="1">
                <a:solidFill>
                  <a:srgbClr val="3FB950"/>
                </a:solidFill>
                <a:latin typeface="Avenir Next"/>
              </a:rPr>
              <a:t>Zia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or </a:t>
            </a:r>
            <a:r>
              <a:rPr sz="2100" b="1">
                <a:solidFill>
                  <a:srgbClr val="3FB950"/>
                </a:solidFill>
                <a:latin typeface="Avenir Next"/>
              </a:rPr>
              <a:t>BASIC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compile to </a:t>
            </a:r>
            <a:r>
              <a:rPr sz="2100" b="1">
                <a:solidFill>
                  <a:srgbClr val="3FB950"/>
                </a:solidFill>
                <a:latin typeface="Avenir Next"/>
              </a:rPr>
              <a:t>Viper IL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— a typed, SSA-based intermediate language.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200"/>
              </a:spcAft>
            </a:pPr>
            <a:r>
              <a:rPr sz="21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100" b="0">
                <a:solidFill>
                  <a:srgbClr val="E6EDF3"/>
                </a:solidFill>
                <a:latin typeface="Avenir Next"/>
              </a:rPr>
              <a:t>The IL is the </a:t>
            </a:r>
            <a:r>
              <a:rPr sz="2100" b="1">
                <a:solidFill>
                  <a:srgbClr val="E6EDF3"/>
                </a:solidFill>
                <a:latin typeface="Avenir Next"/>
              </a:rPr>
              <a:t>“thin waist”</a:t>
            </a:r>
            <a:r>
              <a:rPr sz="2100" b="0">
                <a:solidFill>
                  <a:srgbClr val="E6EDF3"/>
                </a:solidFill>
                <a:latin typeface="Avenir Next"/>
              </a:rPr>
              <a:t>: frontends and backends plug into it independently.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200"/>
              </a:spcAft>
            </a:pPr>
            <a:r>
              <a:rPr sz="21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100" b="0">
                <a:solidFill>
                  <a:srgbClr val="E6EDF3"/>
                </a:solidFill>
                <a:latin typeface="Avenir Next"/>
              </a:rPr>
              <a:t>Run it on the </a:t>
            </a:r>
            <a:r>
              <a:rPr sz="2100" b="1">
                <a:solidFill>
                  <a:srgbClr val="58A6FF"/>
                </a:solidFill>
                <a:latin typeface="Avenir Next"/>
              </a:rPr>
              <a:t>VM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for fast iteration, or compile straight to </a:t>
            </a:r>
            <a:r>
              <a:rPr sz="2100" b="1">
                <a:solidFill>
                  <a:srgbClr val="58A6FF"/>
                </a:solidFill>
                <a:latin typeface="Avenir Next"/>
              </a:rPr>
              <a:t>native machine code</a:t>
            </a:r>
            <a:r>
              <a:rPr sz="2100" b="0">
                <a:solidFill>
                  <a:srgbClr val="E6EDF3"/>
                </a:solidFill>
                <a:latin typeface="Avenir Next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2240280"/>
            <a:ext cx="4370832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rIns="256032" tIns="27432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>
                <a:solidFill>
                  <a:srgbClr val="E6EDF3"/>
                </a:solidFill>
                <a:latin typeface="Avenir Next"/>
              </a:rPr>
              <a:t>Built from scratch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0">
                <a:solidFill>
                  <a:srgbClr val="8B949E"/>
                </a:solidFill>
                <a:latin typeface="Avenir Next"/>
              </a:rPr>
              <a:t>Compiler · VM · assembler · linker · runtime — every layer is 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✗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No SDL or graphics middleware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✗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No LLVM or external codegen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✗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No Boost · zlib · OpenSSL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✗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No third-party runtime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FRONTENDS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Two languages, one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49240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E6EDF3"/>
                </a:solidFill>
                <a:latin typeface="Avenir Next"/>
              </a:rPr>
              <a:t>Zia</a:t>
            </a:r>
            <a:r>
              <a:rPr sz="1400" b="0">
                <a:solidFill>
                  <a:srgbClr val="3FB950"/>
                </a:solidFill>
                <a:latin typeface="Avenir Next"/>
              </a:rPr>
              <a:t>   the flagship language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Modern, statically typed — designed for real apps and games.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Classes, generics &amp; enums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Lambdas &amp; modules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Pattern matching &amp; exhaustiveness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Memory-safe user surface — no raw pointers in normal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103120"/>
            <a:ext cx="5349240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E6EDF3"/>
                </a:solidFill>
                <a:latin typeface="Avenir Next"/>
              </a:rPr>
              <a:t>BASIC</a:t>
            </a:r>
            <a:r>
              <a:rPr sz="1400" b="0">
                <a:solidFill>
                  <a:srgbClr val="58A6FF"/>
                </a:solidFill>
                <a:latin typeface="Avenir Next"/>
              </a:rPr>
              <a:t>   the teaching / prototyping frontend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A classic, approachable dialect for rapid prototyping.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Familiar LET / PRINT / IF / WHILE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Lexer + recursive-descent parser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Intrinsics lower to runtime calls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Great for learning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Avenir Next"/>
              </a:rPr>
              <a:t>Both lower to the same Viper IL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— so they share the same optimizer, backends, and runtime library.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VIPER 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Typed, SSA-based, and inspectable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63623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Zia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074920" cy="3840480"/>
          </a:xfrm>
          <a:prstGeom prst="roundRect">
            <a:avLst>
              <a:gd name="adj" fmla="val 238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module Hello;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bind Viper.Terminal as Terminal;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bind Viper.Text.Fmt as Fmt;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func start()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var x = 2 + 3;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var y = x * 2;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Terminal.Say("HELLO");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Terminal.Say(Fmt.Int(y));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70448" y="3566160"/>
            <a:ext cx="457200" cy="384048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563623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Viper IL — unoptimized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874519"/>
            <a:ext cx="5074920" cy="3840480"/>
          </a:xfrm>
          <a:prstGeom prst="roundRect">
            <a:avLst>
              <a:gd name="adj" fmla="val 238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il 0.2.0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global const str @.L0 = "HELLO"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func @main() -&gt; void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entry_0: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%t0 = iadd.ovf 2,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%t1 = alloca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store i64, %t1, %t0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%t2 = load i64, %t1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%t3 = imul.ovf %t2,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%t4 = alloca 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store i64, %t4, %t3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%t5 = const_str @.L0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call @Viper.Terminal.Say(%t5)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%t6 = load i64, %t4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%t7 = call @Viper.Text.Fmt.Int(%t6)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call @Viper.Terminal.Say(%t7)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ret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Avenir Next"/>
              </a:rPr>
              <a:t>A verifier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enforces structural and type invariants, then a </a:t>
            </a:r>
            <a:r>
              <a:rPr sz="1500" b="1">
                <a:solidFill>
                  <a:srgbClr val="58A6FF"/>
                </a:solidFill>
                <a:latin typeface="Avenir Next"/>
              </a:rPr>
              <a:t>24-pass optimizer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runs GVN, LICM, SCCP, inlining, loop opts, and more.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The end-to-end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5984" y="1371600"/>
            <a:ext cx="51206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2032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Source languages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Zia · BASIC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8288" y="2194560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35984" y="2414016"/>
            <a:ext cx="51206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Frontend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lex · parse · sema · lower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8288" y="323697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78784" y="3456432"/>
            <a:ext cx="6035040" cy="804672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2032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FB950"/>
                </a:solidFill>
                <a:latin typeface="Avenir Next"/>
              </a:rPr>
              <a:t>Viper IL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typed SSA · verifier · 24-pass optimizer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502152" y="433425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8430767" y="433425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4553712"/>
            <a:ext cx="4160520" cy="859536"/>
          </a:xfrm>
          <a:prstGeom prst="roundRect">
            <a:avLst>
              <a:gd name="adj" fmla="val 11702"/>
            </a:avLst>
          </a:prstGeom>
          <a:solidFill>
            <a:srgbClr val="161B22"/>
          </a:solidFill>
          <a:ln w="2032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Bytecode VM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switch · table · threaded dispatch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3952" y="4553712"/>
            <a:ext cx="4160520" cy="859536"/>
          </a:xfrm>
          <a:prstGeom prst="roundRect">
            <a:avLst>
              <a:gd name="adj" fmla="val 11702"/>
            </a:avLst>
          </a:prstGeom>
          <a:solidFill>
            <a:srgbClr val="161B22"/>
          </a:solidFill>
          <a:ln w="2032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Native path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AArch64 · x86-64 · assembler · linker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502152" y="5449824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430767" y="5449824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78784" y="5687568"/>
            <a:ext cx="60350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2032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Viper Runtime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graphics · GUI · 3D · audio · net · crypto · game systems ·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EXECUTION · 1 OF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Run instantly on the VM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The primary development and debugging target.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40680" cy="3429000"/>
          </a:xfrm>
          <a:prstGeom prst="roundRect">
            <a:avLst>
              <a:gd name="adj" fmla="val 3466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58A6FF"/>
                </a:solidFill>
                <a:latin typeface="Avenir Next"/>
              </a:rPr>
              <a:t>The VM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Register-file bytecode interpreter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Switch · table · threaded-goto dispatch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Pooled frames · cached string literals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Structured trap diagnostics · execution tracing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2295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Edit → run → repeat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606040"/>
            <a:ext cx="5120640" cy="2331720"/>
          </a:xfrm>
          <a:prstGeom prst="roundRect">
            <a:avLst>
              <a:gd name="adj" fmla="val 392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$ viper run game.zia      </a:t>
            </a:r>
            <a:r>
              <a:rPr sz="1300" b="0">
                <a:solidFill>
                  <a:srgbClr val="6E966E"/>
                </a:solidFill>
                <a:latin typeface="Menlo"/>
              </a:rPr>
              <a:t># no build step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$ viper repl              </a:t>
            </a:r>
            <a:r>
              <a:rPr sz="1300" b="0">
                <a:solidFill>
                  <a:srgbClr val="6E966E"/>
                </a:solidFill>
                <a:latin typeface="Menlo"/>
              </a:rPr>
              <a:t># live evaluation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zia&gt; Say("hello")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hello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zia&gt; Say(Fmt.Int(2 + 3))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13892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Avenir Next"/>
              </a:rPr>
              <a:t>No compile step</a:t>
            </a:r>
            <a:r>
              <a:rPr sz="1450" b="0">
                <a:solidFill>
                  <a:srgbClr val="8B949E"/>
                </a:solidFill>
                <a:latin typeface="Avenir Next"/>
              </a:rPr>
              <a:t> — see results immediately, then ship the very same IL as a native binary.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EXECUTION · 2 OF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Compile straight to a native binary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Same IL, no VM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40680" cy="3429000"/>
          </a:xfrm>
          <a:prstGeom prst="roundRect">
            <a:avLst>
              <a:gd name="adj" fmla="val 3466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3FB950"/>
                </a:solidFill>
                <a:latin typeface="Avenir Next"/>
              </a:rPr>
              <a:t>Native path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AArch64 · x86-64 — Apple Silicon, Windows, Linux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Register coalescing · post-RA scheduling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1">
                <a:solidFill>
                  <a:srgbClr val="E6EDF3"/>
                </a:solidFill>
                <a:latin typeface="Avenir Next"/>
              </a:rPr>
              <a:t>Built-in assembler + linker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ELF · Mach-O · PE output with debug info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286000"/>
            <a:ext cx="5285232" cy="3429000"/>
          </a:xfrm>
          <a:prstGeom prst="roundRect">
            <a:avLst>
              <a:gd name="adj" fmla="val 3466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>
                <a:solidFill>
                  <a:srgbClr val="58A6FF"/>
                </a:solidFill>
                <a:latin typeface="Avenir Next"/>
              </a:rPr>
              <a:t>Verified equivalence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600"/>
              </a:spcAft>
            </a:pPr>
            <a:r>
              <a:rPr sz="1550" b="0">
                <a:solidFill>
                  <a:srgbClr val="8B949E"/>
                </a:solidFill>
                <a:latin typeface="Avenir Next"/>
              </a:rPr>
              <a:t>VM and native outputs must match for every defined program.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Differential testing — VM vs. native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~18 fuzz harnesses on parser &amp; 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ASAN · UBSAN · TSAN sanitizer 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THE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One standard library, every frontend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436 classes across 22 modules — shared through a C ABI by both the VM and native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57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Graphics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57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53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46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Graphics3D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255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34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Game3D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29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Collections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27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55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23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Utilities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22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757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Threads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I/O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255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12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Math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10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Localization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757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Crypto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506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Sound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55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6305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Plus</a:t>
            </a:r>
            <a:r>
              <a:rPr sz="1400" b="0">
                <a:solidFill>
                  <a:srgbClr val="E6EDF3"/>
                </a:solidFill>
                <a:latin typeface="Avenir Next"/>
              </a:rPr>
              <a:t> Core, Data, Input, Memory, Compress, Game.Physics2D, Game.UI</a:t>
            </a:r>
            <a:r>
              <a:rPr sz="1400" b="0">
                <a:solidFill>
                  <a:srgbClr val="8B949E"/>
                </a:solidFill>
                <a:latin typeface="Avenir Next"/>
              </a:rPr>
              <a:t>  —  graphics, 3D, audio, networking, crypto, threading, localization, and more.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What “from scratch” really means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Every layer is in-tree. A sense of the scale: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~700K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lines of production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570" y="246888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~547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test 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436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runtime classes · 22 modules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2550" y="246888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24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IL optimizer passes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51376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native backends · x86-64 · ARM64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4151376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object formats · ELF · Mach-O · 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4151376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~18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fuzz harnesses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550" y="4151376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28016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3FB950"/>
                </a:solidFill>
                <a:latin typeface="Avenir Next"/>
              </a:rPr>
              <a:t>23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example apps &amp; games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44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Avenir Next"/>
              </a:rPr>
              <a:t>Pre-Alpha, under active development</a:t>
            </a:r>
            <a:r>
              <a:rPr sz="1450" b="0">
                <a:solidFill>
                  <a:srgbClr val="8B949E"/>
                </a:solidFill>
                <a:latin typeface="Avenir Next"/>
              </a:rPr>
              <a:t> — measures of scope, not maturity.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BUILT WITH VIPER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Real games and apps, in pure Zia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All open source in the repo — running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XENOSCAPE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~21K LOC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Metroidvania — bosses, abilities, saves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57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ViperSQL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~85K LOC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SQL database engine +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Chess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Alpha-beta AI, drag-and-drop 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255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3D Bowling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Physics-driven, multi-mode 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Game3D Showcase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Terrain · water · PBR · post-FX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Crackman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Maze chase with ghost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Paint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Layers, undo/redo, full tool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55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+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23 total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6 apps · 17 games · demos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447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Avenir Next"/>
              </a:rPr>
              <a:t>Same compiler, VM, and runtime</a:t>
            </a:r>
            <a:r>
              <a:rPr sz="1450" b="0">
                <a:solidFill>
                  <a:srgbClr val="8B949E"/>
                </a:solidFill>
                <a:latin typeface="Avenir Next"/>
              </a:rPr>
              <a:t> — every demo ships as a native binary on all three platforms.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TOOLING &amp; GETTING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From source to native binary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4650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Build from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5989320" cy="2240280"/>
          </a:xfrm>
          <a:prstGeom prst="roundRect">
            <a:avLst>
              <a:gd name="adj" fmla="val 408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git clone https://github.com/splanck/viper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cd viper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./scripts/build_viper_linux.sh    </a:t>
            </a:r>
            <a:r>
              <a:rPr sz="1200" b="0">
                <a:solidFill>
                  <a:srgbClr val="6E966E"/>
                </a:solidFill>
                <a:latin typeface="Menlo"/>
              </a:rPr>
              <a:t># build the toolchain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./scripts/build_demos_linux.sh    </a:t>
            </a:r>
            <a:r>
              <a:rPr sz="1200" b="0">
                <a:solidFill>
                  <a:srgbClr val="6E966E"/>
                </a:solidFill>
                <a:latin typeface="Menlo"/>
              </a:rPr>
              <a:t># build the demos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init my-app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run my-app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repl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viper build my-app -o my-app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70832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8B949E"/>
                </a:solidFill>
                <a:latin typeface="Avenir Next"/>
              </a:rPr>
              <a:t>Requirements:  </a:t>
            </a:r>
            <a:r>
              <a:rPr sz="1250" b="0">
                <a:solidFill>
                  <a:srgbClr val="8B949E"/>
                </a:solidFill>
                <a:latin typeface="Avenir Next"/>
              </a:rPr>
              <a:t>supported OS · C++ compiler · CMake · make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057400"/>
            <a:ext cx="4690872" cy="3794760"/>
          </a:xfrm>
          <a:prstGeom prst="roundRect">
            <a:avLst>
              <a:gd name="adj" fmla="val 3132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19456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In the 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viper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unified driver — run/build/package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repl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live Zia &amp; BASIC evaluation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viper il-opt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optimize IL (24 passes)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il-verify · il-dis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verify &amp; disassemble 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zia-server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LSP + MCP language server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3FB950"/>
                </a:solidFill>
                <a:latin typeface="Menlo"/>
              </a:rPr>
              <a:t>package</a:t>
            </a:r>
            <a:r>
              <a:rPr sz="1300" b="0">
                <a:solidFill>
                  <a:srgbClr val="8B949E"/>
                </a:solidFill>
                <a:latin typeface="Avenir Next"/>
              </a:rPr>
              <a:t>  installers: .app · .deb · .exe · .tar.gz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81728"/>
            <a:ext cx="5989320" cy="1170432"/>
          </a:xfrm>
          <a:prstGeom prst="roundRect">
            <a:avLst>
              <a:gd name="adj" fmla="val 10156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146304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Agent-friendly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3"/>
                </a:solidFill>
                <a:latin typeface="Avenir Next"/>
              </a:rPr>
              <a:t>viper check · eval · explain</a:t>
            </a:r>
            <a:r>
              <a:rPr sz="1350" b="0">
                <a:solidFill>
                  <a:srgbClr val="8B949E"/>
                </a:solidFill>
                <a:latin typeface="Avenir Next"/>
              </a:rPr>
              <a:t>   ·   JSON diagnostics   ·   --dump-runtime-api   ·   LSP + MCP servers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Avenir Next"/>
              </a:rPr>
              <a:t>github.com/splanck/viper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    —     clone it, run the demos, and tell me what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